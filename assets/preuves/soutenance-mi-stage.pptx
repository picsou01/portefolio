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4" r:id="rId7"/>
    <p:sldId id="265"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5E5"/>
    <a:srgbClr val="FFD9D9"/>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0547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Maël Davidenko, étudiant en première année de BTS SIO option SLAM. Je vous présente le bilan de mi-stage de mon stage à la Mairie de Douvres, qui porte sur la refonte du site web de la commune et l'appui informatique aux services de la mairie. Le stage dure cinq semaines, du 1er juin au 4 juillet.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stage se déroule à la Mairie de Douvres, une petite commune de l'Ain d'environ 1 100 habitants. Ce n'est pas une entreprise classique : c'est une collectivité territoriale, dont la mission est le service public local. Point important : comme beaucoup de communes de cette taille, Douvres n'a aucun service informatique dédié. C'est précisément là qu'intervient ma mission.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thème de mon stage tient en une phrase, qui se décline en trois axes. Premièrement, le projet central : la refonte complète du site web de la commune sous WordPress. Deuxièmement, l'appui informatique au quotidien : messagerie, signatures de mails, bureautique, dépannage. Et troisièmement, un audit du système d'information de la mairie.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mon stage, c'est le site web. Je l'ai entièrement repris sous WordPress, à travers un thème enfant construit sur la base Twenty Twenty-Five. J'ai mis en place un système de brèves pour les actualités municipales, qui s'archivent automatiquement, une galerie en pleine largeur, un agenda automatique, et une charte graphique aux couleurs de la commune. L'objectif : un site que la mairie peut maintenir seule, sans dépendre d'un prestataire.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parallèle du site, j'ai assuré plusieurs missions d'appui informatique. J'ai harmonisé les signatures de messagerie de tous les services. Je suis intervenu sur le système de vidéosurveillance pour un diagnostic et du dépannage. J'ai produit des modèles bureautiques, sur Excel et pour les courriers municipaux. Et j'ai mené un audit des contrats et prestations informatiques de la commune.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parallèle du site, j'ai assuré plusieurs missions d'appui informatique. J'ai harmonisé les signatures de messagerie de tous les services. Je suis intervenu sur le système de vidéosurveillance pour un diagnostic et du dépannage. J'ai produit des modèles bureautiques, sur Excel et pour les courriers municipaux. Et j'ai mené un audit des contrats et prestations informatiques de la commune.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21798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parallèle du site, j'ai assuré plusieurs missions d'appui informatique. J'ai harmonisé les signatures de messagerie de tous les services. Je suis intervenu sur le système de vidéosurveillance pour un diagnostic et du dépannage. J'ai produit des modèles bureautiques, sur Excel et pour les courriers municipaux. Et j'ai mené un audit des contrats et prestations informatiques de la commune.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08512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Où en suis-je à mi-parcours ? Côté réalisé : le site est déjà en ligne avec sa base et son thème sur mesure, les signatures de messagerie sont déployées, l'audit informatique est lancé, et je suis pleinement intégré à l'équipe et au comité de communication. Pour la seconde moitié : finaliser le site et sa mise en contenu, terminer l'audit, et poursuivre l'appui informatique. Je suis donc à la semaine 3 sur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que je retiens de cette première moitié de stage : c'est mon premier projet mené en conditions réelles, du besoin jusqu'à la mise en ligne. Il m'a demandé de l'autonomie et de la polyvalence, du développement jusqu'au support des utilisateurs. Et surtout, il m'a montré le lien concret entre l'informatique et un service public de proximité. Je vous remercie de votre attention, et je suis prêt à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258"/>
        </a:solidFill>
        <a:effectLst/>
      </p:bgPr>
    </p:bg>
    <p:spTree>
      <p:nvGrpSpPr>
        <p:cNvPr id="1" name=""/>
        <p:cNvGrpSpPr/>
        <p:nvPr/>
      </p:nvGrpSpPr>
      <p:grpSpPr>
        <a:xfrm>
          <a:off x="0" y="0"/>
          <a:ext cx="0" cy="0"/>
          <a:chOff x="0" y="0"/>
          <a:chExt cx="0" cy="0"/>
        </a:xfrm>
      </p:grpSpPr>
      <p:sp>
        <p:nvSpPr>
          <p:cNvPr id="4" name="Text 1"/>
          <p:cNvSpPr/>
          <p:nvPr/>
        </p:nvSpPr>
        <p:spPr>
          <a:xfrm>
            <a:off x="868680" y="2011680"/>
            <a:ext cx="10058400" cy="365760"/>
          </a:xfrm>
          <a:prstGeom prst="rect">
            <a:avLst/>
          </a:prstGeom>
          <a:noFill/>
          <a:ln/>
        </p:spPr>
        <p:txBody>
          <a:bodyPr wrap="square" lIns="0" tIns="0" rIns="0" bIns="0" rtlCol="0" anchor="ctr"/>
          <a:lstStyle/>
          <a:p>
            <a:pPr marL="0" indent="0">
              <a:buNone/>
            </a:pPr>
            <a:r>
              <a:rPr lang="en-US" sz="1500" b="1" kern="0" spc="300" dirty="0">
                <a:solidFill>
                  <a:srgbClr val="DCA828"/>
                </a:solidFill>
                <a:latin typeface="Calibri" pitchFamily="34" charset="0"/>
                <a:ea typeface="Calibri" pitchFamily="34" charset="-122"/>
                <a:cs typeface="Calibri" pitchFamily="34" charset="-120"/>
              </a:rPr>
              <a:t>BTS SIO   ·   OPTION SLAM</a:t>
            </a:r>
            <a:endParaRPr lang="en-US" sz="1500" dirty="0"/>
          </a:p>
        </p:txBody>
      </p:sp>
      <p:sp>
        <p:nvSpPr>
          <p:cNvPr id="5" name="Text 2"/>
          <p:cNvSpPr/>
          <p:nvPr/>
        </p:nvSpPr>
        <p:spPr>
          <a:xfrm>
            <a:off x="822960" y="2606040"/>
            <a:ext cx="10515600" cy="100584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Bilan de mi-stage</a:t>
            </a:r>
            <a:endParaRPr lang="en-US" sz="5000" dirty="0"/>
          </a:p>
        </p:txBody>
      </p:sp>
      <p:sp>
        <p:nvSpPr>
          <p:cNvPr id="6" name="Text 3"/>
          <p:cNvSpPr/>
          <p:nvPr/>
        </p:nvSpPr>
        <p:spPr>
          <a:xfrm>
            <a:off x="868680" y="3703320"/>
            <a:ext cx="8686800" cy="822960"/>
          </a:xfrm>
          <a:prstGeom prst="rect">
            <a:avLst/>
          </a:prstGeom>
          <a:noFill/>
          <a:ln/>
        </p:spPr>
        <p:txBody>
          <a:bodyPr wrap="square" lIns="0" tIns="0" rIns="0" bIns="0" rtlCol="0" anchor="ctr"/>
          <a:lstStyle/>
          <a:p>
            <a:pPr marL="0" indent="0">
              <a:buNone/>
            </a:pPr>
            <a:r>
              <a:rPr lang="en-US" sz="1900" dirty="0">
                <a:solidFill>
                  <a:srgbClr val="AEC4E0"/>
                </a:solidFill>
                <a:latin typeface="Calibri" pitchFamily="34" charset="0"/>
                <a:ea typeface="Calibri" pitchFamily="34" charset="-122"/>
                <a:cs typeface="Calibri" pitchFamily="34" charset="-120"/>
              </a:rPr>
              <a:t>Refonte du site web de la commune et appui informatique aux services de la mairie</a:t>
            </a:r>
            <a:endParaRPr lang="en-US" sz="1900" dirty="0"/>
          </a:p>
        </p:txBody>
      </p:sp>
      <p:sp>
        <p:nvSpPr>
          <p:cNvPr id="7" name="Text 4"/>
          <p:cNvSpPr/>
          <p:nvPr/>
        </p:nvSpPr>
        <p:spPr>
          <a:xfrm>
            <a:off x="868680" y="5806440"/>
            <a:ext cx="105156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Maël DAVIDENKO</a:t>
            </a:r>
            <a:r>
              <a:rPr lang="en-US" sz="1400" dirty="0">
                <a:solidFill>
                  <a:srgbClr val="AEC4E0"/>
                </a:solidFill>
                <a:latin typeface="Calibri" pitchFamily="34" charset="0"/>
                <a:ea typeface="Calibri" pitchFamily="34" charset="-122"/>
                <a:cs typeface="Calibri" pitchFamily="34" charset="-120"/>
              </a:rPr>
              <a:t>      Mairie de Douvres (01500)      1er juin - 4 juillet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640080" y="397764"/>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Le contexte</a:t>
            </a:r>
            <a:endParaRPr lang="en-US" sz="2700" dirty="0"/>
          </a:p>
        </p:txBody>
      </p:sp>
      <p:sp>
        <p:nvSpPr>
          <p:cNvPr id="5" name="Text 2"/>
          <p:cNvSpPr/>
          <p:nvPr/>
        </p:nvSpPr>
        <p:spPr>
          <a:xfrm>
            <a:off x="640080" y="1417320"/>
            <a:ext cx="6400800" cy="457200"/>
          </a:xfrm>
          <a:prstGeom prst="rect">
            <a:avLst/>
          </a:prstGeom>
          <a:noFill/>
          <a:ln/>
        </p:spPr>
        <p:txBody>
          <a:bodyPr wrap="square" lIns="0" tIns="0" rIns="0" bIns="0" rtlCol="0" anchor="ctr"/>
          <a:lstStyle/>
          <a:p>
            <a:pPr marL="0" indent="0">
              <a:buNone/>
            </a:pPr>
            <a:r>
              <a:rPr lang="en-US" sz="2000" b="1" dirty="0">
                <a:solidFill>
                  <a:srgbClr val="1F2A37"/>
                </a:solidFill>
                <a:latin typeface="Calibri" pitchFamily="34" charset="0"/>
                <a:ea typeface="Calibri" pitchFamily="34" charset="-122"/>
                <a:cs typeface="Calibri" pitchFamily="34" charset="-120"/>
              </a:rPr>
              <a:t>La Mairie de Douvres</a:t>
            </a:r>
            <a:endParaRPr lang="en-US" sz="2000" dirty="0"/>
          </a:p>
        </p:txBody>
      </p:sp>
      <p:sp>
        <p:nvSpPr>
          <p:cNvPr id="6" name="Text 3"/>
          <p:cNvSpPr/>
          <p:nvPr/>
        </p:nvSpPr>
        <p:spPr>
          <a:xfrm>
            <a:off x="640080" y="1965960"/>
            <a:ext cx="6126480" cy="1097280"/>
          </a:xfrm>
          <a:prstGeom prst="rect">
            <a:avLst/>
          </a:prstGeom>
          <a:noFill/>
          <a:ln/>
        </p:spPr>
        <p:txBody>
          <a:bodyPr wrap="square" lIns="0" tIns="0" rIns="0" bIns="0" rtlCol="0" anchor="ctr"/>
          <a:lstStyle/>
          <a:p>
            <a:pPr marL="0" indent="0">
              <a:lnSpc>
                <a:spcPct val="115000"/>
              </a:lnSpc>
              <a:buNone/>
            </a:pPr>
            <a:r>
              <a:rPr lang="en-US" sz="1500" dirty="0">
                <a:solidFill>
                  <a:srgbClr val="5B6776"/>
                </a:solidFill>
                <a:latin typeface="Calibri" pitchFamily="34" charset="0"/>
                <a:ea typeface="Calibri" pitchFamily="34" charset="-122"/>
                <a:cs typeface="Calibri" pitchFamily="34" charset="-120"/>
              </a:rPr>
              <a:t>Une commune de l'Ain (01), en Auvergne-Rhône-Alpes. Pas une entreprise, mais une collectivité territoriale : sa mission est le service public local, au plus près des habitants.</a:t>
            </a:r>
            <a:endParaRPr lang="en-US" sz="1500" dirty="0"/>
          </a:p>
        </p:txBody>
      </p:sp>
      <p:sp>
        <p:nvSpPr>
          <p:cNvPr id="7" name="Shape 4"/>
          <p:cNvSpPr/>
          <p:nvPr/>
        </p:nvSpPr>
        <p:spPr>
          <a:xfrm>
            <a:off x="640080" y="3383280"/>
            <a:ext cx="1938528" cy="1554480"/>
          </a:xfrm>
          <a:prstGeom prst="roundRect">
            <a:avLst>
              <a:gd name="adj" fmla="val 4706"/>
            </a:avLst>
          </a:prstGeom>
          <a:solidFill>
            <a:srgbClr val="EEF2F8"/>
          </a:solidFill>
          <a:ln/>
          <a:effectLst>
            <a:outerShdw blurRad="88900" dist="38100" dir="5400000" algn="bl" rotWithShape="0">
              <a:srgbClr val="000000">
                <a:alpha val="10000"/>
              </a:srgbClr>
            </a:outerShdw>
          </a:effectLst>
        </p:spPr>
      </p:sp>
      <p:sp>
        <p:nvSpPr>
          <p:cNvPr id="8" name="Text 5"/>
          <p:cNvSpPr/>
          <p:nvPr/>
        </p:nvSpPr>
        <p:spPr>
          <a:xfrm>
            <a:off x="640080" y="3584448"/>
            <a:ext cx="1938528" cy="777240"/>
          </a:xfrm>
          <a:prstGeom prst="rect">
            <a:avLst/>
          </a:prstGeom>
          <a:noFill/>
          <a:ln/>
        </p:spPr>
        <p:txBody>
          <a:bodyPr wrap="square" lIns="0" tIns="0" rIns="0" bIns="0" rtlCol="0" anchor="ctr"/>
          <a:lstStyle/>
          <a:p>
            <a:pPr marL="0" indent="0" algn="ctr">
              <a:buNone/>
            </a:pPr>
            <a:r>
              <a:rPr lang="en-US" sz="4000" b="1" dirty="0">
                <a:solidFill>
                  <a:srgbClr val="1C5191"/>
                </a:solidFill>
                <a:latin typeface="Calibri" pitchFamily="34" charset="0"/>
                <a:ea typeface="Calibri" pitchFamily="34" charset="-122"/>
                <a:cs typeface="Calibri" pitchFamily="34" charset="-120"/>
              </a:rPr>
              <a:t>~1 400</a:t>
            </a:r>
            <a:endParaRPr lang="en-US" sz="4000" dirty="0"/>
          </a:p>
        </p:txBody>
      </p:sp>
      <p:sp>
        <p:nvSpPr>
          <p:cNvPr id="9" name="Text 6"/>
          <p:cNvSpPr/>
          <p:nvPr/>
        </p:nvSpPr>
        <p:spPr>
          <a:xfrm>
            <a:off x="731520" y="4370832"/>
            <a:ext cx="1755648" cy="457200"/>
          </a:xfrm>
          <a:prstGeom prst="rect">
            <a:avLst/>
          </a:prstGeom>
          <a:noFill/>
          <a:ln/>
        </p:spPr>
        <p:txBody>
          <a:bodyPr wrap="square" lIns="0" tIns="0" rIns="0" bIns="0" rtlCol="0" anchor="ctr"/>
          <a:lstStyle/>
          <a:p>
            <a:pPr marL="0" indent="0" algn="ctr">
              <a:buNone/>
            </a:pPr>
            <a:r>
              <a:rPr lang="en-US" sz="1300" dirty="0">
                <a:solidFill>
                  <a:srgbClr val="5B6776"/>
                </a:solidFill>
                <a:latin typeface="Calibri" pitchFamily="34" charset="0"/>
                <a:ea typeface="Calibri" pitchFamily="34" charset="-122"/>
                <a:cs typeface="Calibri" pitchFamily="34" charset="-120"/>
              </a:rPr>
              <a:t>habitants</a:t>
            </a:r>
            <a:endParaRPr lang="en-US" sz="1300" dirty="0"/>
          </a:p>
        </p:txBody>
      </p:sp>
      <p:sp>
        <p:nvSpPr>
          <p:cNvPr id="10" name="Shape 7"/>
          <p:cNvSpPr/>
          <p:nvPr/>
        </p:nvSpPr>
        <p:spPr>
          <a:xfrm>
            <a:off x="2779776" y="3383280"/>
            <a:ext cx="1938528" cy="1554480"/>
          </a:xfrm>
          <a:prstGeom prst="roundRect">
            <a:avLst>
              <a:gd name="adj" fmla="val 4706"/>
            </a:avLst>
          </a:prstGeom>
          <a:solidFill>
            <a:srgbClr val="EEF2F8"/>
          </a:solidFill>
          <a:ln/>
          <a:effectLst>
            <a:outerShdw blurRad="88900" dist="38100" dir="5400000" algn="bl" rotWithShape="0">
              <a:srgbClr val="000000">
                <a:alpha val="10000"/>
              </a:srgbClr>
            </a:outerShdw>
          </a:effectLst>
        </p:spPr>
      </p:sp>
      <p:sp>
        <p:nvSpPr>
          <p:cNvPr id="11" name="Text 8"/>
          <p:cNvSpPr/>
          <p:nvPr/>
        </p:nvSpPr>
        <p:spPr>
          <a:xfrm>
            <a:off x="2779776" y="3584448"/>
            <a:ext cx="1938528" cy="777240"/>
          </a:xfrm>
          <a:prstGeom prst="rect">
            <a:avLst/>
          </a:prstGeom>
          <a:noFill/>
          <a:ln/>
        </p:spPr>
        <p:txBody>
          <a:bodyPr wrap="square" lIns="0" tIns="0" rIns="0" bIns="0" rtlCol="0" anchor="ctr"/>
          <a:lstStyle/>
          <a:p>
            <a:pPr marL="0" indent="0" algn="ctr">
              <a:buNone/>
            </a:pPr>
            <a:r>
              <a:rPr lang="en-US" sz="4000" b="1" dirty="0">
                <a:solidFill>
                  <a:srgbClr val="1C5191"/>
                </a:solidFill>
                <a:latin typeface="Calibri" pitchFamily="34" charset="0"/>
                <a:ea typeface="Calibri" pitchFamily="34" charset="-122"/>
                <a:cs typeface="Calibri" pitchFamily="34" charset="-120"/>
              </a:rPr>
              <a:t>01</a:t>
            </a:r>
            <a:endParaRPr lang="en-US" sz="4000" dirty="0"/>
          </a:p>
        </p:txBody>
      </p:sp>
      <p:sp>
        <p:nvSpPr>
          <p:cNvPr id="12" name="Text 9"/>
          <p:cNvSpPr/>
          <p:nvPr/>
        </p:nvSpPr>
        <p:spPr>
          <a:xfrm>
            <a:off x="2871216" y="4370832"/>
            <a:ext cx="1755648" cy="457200"/>
          </a:xfrm>
          <a:prstGeom prst="rect">
            <a:avLst/>
          </a:prstGeom>
          <a:noFill/>
          <a:ln/>
        </p:spPr>
        <p:txBody>
          <a:bodyPr wrap="square" lIns="0" tIns="0" rIns="0" bIns="0" rtlCol="0" anchor="ctr"/>
          <a:lstStyle/>
          <a:p>
            <a:pPr marL="0" indent="0" algn="ctr">
              <a:buNone/>
            </a:pPr>
            <a:r>
              <a:rPr lang="en-US" sz="1300" dirty="0">
                <a:solidFill>
                  <a:srgbClr val="5B6776"/>
                </a:solidFill>
                <a:latin typeface="Calibri" pitchFamily="34" charset="0"/>
                <a:ea typeface="Calibri" pitchFamily="34" charset="-122"/>
                <a:cs typeface="Calibri" pitchFamily="34" charset="-120"/>
              </a:rPr>
              <a:t>département de l'Ain</a:t>
            </a:r>
            <a:endParaRPr lang="en-US" sz="1300" dirty="0"/>
          </a:p>
        </p:txBody>
      </p:sp>
      <p:sp>
        <p:nvSpPr>
          <p:cNvPr id="13" name="Shape 10"/>
          <p:cNvSpPr/>
          <p:nvPr/>
        </p:nvSpPr>
        <p:spPr>
          <a:xfrm>
            <a:off x="4919472" y="3383280"/>
            <a:ext cx="1938528" cy="1554480"/>
          </a:xfrm>
          <a:prstGeom prst="roundRect">
            <a:avLst>
              <a:gd name="adj" fmla="val 4706"/>
            </a:avLst>
          </a:prstGeom>
          <a:solidFill>
            <a:srgbClr val="FFE5E5"/>
          </a:solidFill>
          <a:ln/>
          <a:effectLst>
            <a:outerShdw blurRad="88900" dist="38100" dir="5400000" algn="bl" rotWithShape="0">
              <a:srgbClr val="000000">
                <a:alpha val="10000"/>
              </a:srgbClr>
            </a:outerShdw>
          </a:effectLst>
        </p:spPr>
      </p:sp>
      <p:sp>
        <p:nvSpPr>
          <p:cNvPr id="14" name="Text 11"/>
          <p:cNvSpPr/>
          <p:nvPr/>
        </p:nvSpPr>
        <p:spPr>
          <a:xfrm>
            <a:off x="4919472" y="3584448"/>
            <a:ext cx="1938528" cy="777240"/>
          </a:xfrm>
          <a:prstGeom prst="rect">
            <a:avLst/>
          </a:prstGeom>
          <a:noFill/>
          <a:ln/>
        </p:spPr>
        <p:txBody>
          <a:bodyPr wrap="square" lIns="0" tIns="0" rIns="0" bIns="0" rtlCol="0" anchor="ctr"/>
          <a:lstStyle/>
          <a:p>
            <a:pPr marL="0" indent="0" algn="ctr">
              <a:buNone/>
            </a:pPr>
            <a:r>
              <a:rPr lang="en-US" sz="4000" b="1" dirty="0">
                <a:solidFill>
                  <a:srgbClr val="FF0000"/>
                </a:solidFill>
                <a:latin typeface="Calibri" pitchFamily="34" charset="0"/>
                <a:ea typeface="Calibri" pitchFamily="34" charset="-122"/>
                <a:cs typeface="Calibri" pitchFamily="34" charset="-120"/>
              </a:rPr>
              <a:t>0</a:t>
            </a:r>
            <a:endParaRPr lang="en-US" sz="4000" dirty="0">
              <a:solidFill>
                <a:srgbClr val="FF0000"/>
              </a:solidFill>
            </a:endParaRPr>
          </a:p>
        </p:txBody>
      </p:sp>
      <p:sp>
        <p:nvSpPr>
          <p:cNvPr id="15" name="Text 12"/>
          <p:cNvSpPr/>
          <p:nvPr/>
        </p:nvSpPr>
        <p:spPr>
          <a:xfrm>
            <a:off x="5010912" y="4370832"/>
            <a:ext cx="1755648" cy="457200"/>
          </a:xfrm>
          <a:prstGeom prst="rect">
            <a:avLst/>
          </a:prstGeom>
          <a:noFill/>
          <a:ln/>
        </p:spPr>
        <p:txBody>
          <a:bodyPr wrap="square" lIns="0" tIns="0" rIns="0" bIns="0" rtlCol="0" anchor="ctr"/>
          <a:lstStyle/>
          <a:p>
            <a:pPr marL="0" indent="0" algn="ctr">
              <a:buNone/>
            </a:pPr>
            <a:r>
              <a:rPr lang="en-US" sz="1300" dirty="0">
                <a:solidFill>
                  <a:srgbClr val="FF0000"/>
                </a:solidFill>
                <a:latin typeface="Calibri" pitchFamily="34" charset="0"/>
                <a:ea typeface="Calibri" pitchFamily="34" charset="-122"/>
                <a:cs typeface="Calibri" pitchFamily="34" charset="-120"/>
              </a:rPr>
              <a:t>service info dédié</a:t>
            </a:r>
            <a:endParaRPr lang="en-US" sz="1300" dirty="0">
              <a:solidFill>
                <a:srgbClr val="FF0000"/>
              </a:solidFill>
            </a:endParaRPr>
          </a:p>
        </p:txBody>
      </p:sp>
      <p:sp>
        <p:nvSpPr>
          <p:cNvPr id="16" name="Text 13"/>
          <p:cNvSpPr/>
          <p:nvPr/>
        </p:nvSpPr>
        <p:spPr>
          <a:xfrm>
            <a:off x="640080" y="5166360"/>
            <a:ext cx="6309360" cy="548640"/>
          </a:xfrm>
          <a:prstGeom prst="rect">
            <a:avLst/>
          </a:prstGeom>
          <a:noFill/>
          <a:ln/>
        </p:spPr>
        <p:txBody>
          <a:bodyPr wrap="square" lIns="0" tIns="0" rIns="0" bIns="0" rtlCol="0" anchor="ctr"/>
          <a:lstStyle/>
          <a:p>
            <a:pPr marL="0" indent="0">
              <a:buNone/>
            </a:pPr>
            <a:r>
              <a:rPr lang="en-US" sz="1600" b="1" i="1" dirty="0">
                <a:solidFill>
                  <a:schemeClr val="accent1"/>
                </a:solidFill>
                <a:latin typeface="Calibri" pitchFamily="34" charset="0"/>
                <a:ea typeface="Calibri" pitchFamily="34" charset="-122"/>
                <a:cs typeface="Calibri" pitchFamily="34" charset="-120"/>
              </a:rPr>
              <a:t>→ Une commune sans informaticien : c'est là que se situe ma mission.</a:t>
            </a:r>
            <a:endParaRPr lang="en-US" sz="1600" dirty="0">
              <a:solidFill>
                <a:schemeClr val="accent1"/>
              </a:solidFill>
            </a:endParaRPr>
          </a:p>
        </p:txBody>
      </p:sp>
      <p:sp>
        <p:nvSpPr>
          <p:cNvPr id="17" name="Shape 14"/>
          <p:cNvSpPr/>
          <p:nvPr/>
        </p:nvSpPr>
        <p:spPr>
          <a:xfrm>
            <a:off x="7360920" y="1463040"/>
            <a:ext cx="4160520" cy="4206240"/>
          </a:xfrm>
          <a:prstGeom prst="roundRect">
            <a:avLst>
              <a:gd name="adj" fmla="val 9225"/>
            </a:avLst>
          </a:prstGeom>
          <a:blipFill dpi="0" rotWithShape="1">
            <a:blip r:embed="rId4">
              <a:extLst>
                <a:ext uri="{28A0092B-C50C-407E-A947-70E740481C1C}">
                  <a14:useLocalDpi xmlns:a14="http://schemas.microsoft.com/office/drawing/2010/main" val="0"/>
                </a:ext>
              </a:extLst>
            </a:blip>
            <a:srcRect/>
            <a:stretch>
              <a:fillRect/>
            </a:stretch>
          </a:blipFill>
          <a:ln w="19050">
            <a:noFill/>
            <a:prstDash val="dash"/>
          </a:ln>
        </p:spPr>
        <p:txBody>
          <a:bodyPr/>
          <a:lstStyle/>
          <a:p>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640080" y="420624"/>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Le projet &amp; mes missions</a:t>
            </a:r>
            <a:endParaRPr lang="en-US" sz="2700" dirty="0"/>
          </a:p>
        </p:txBody>
      </p:sp>
      <p:sp>
        <p:nvSpPr>
          <p:cNvPr id="6" name="Text 3"/>
          <p:cNvSpPr/>
          <p:nvPr/>
        </p:nvSpPr>
        <p:spPr>
          <a:xfrm>
            <a:off x="914400" y="1417320"/>
            <a:ext cx="10332720" cy="914400"/>
          </a:xfrm>
          <a:prstGeom prst="rect">
            <a:avLst/>
          </a:prstGeom>
          <a:noFill/>
          <a:ln/>
        </p:spPr>
        <p:txBody>
          <a:bodyPr wrap="square" lIns="0" tIns="0" rIns="0" bIns="0" rtlCol="0" anchor="ctr"/>
          <a:lstStyle/>
          <a:p>
            <a:pPr marL="0" indent="0">
              <a:buNone/>
            </a:pPr>
            <a:r>
              <a:rPr lang="en-US" sz="1800" b="1" i="1" dirty="0">
                <a:solidFill>
                  <a:srgbClr val="1C5191"/>
                </a:solidFill>
                <a:latin typeface="Calibri" pitchFamily="34" charset="0"/>
                <a:ea typeface="Calibri" pitchFamily="34" charset="-122"/>
                <a:cs typeface="Calibri" pitchFamily="34" charset="-120"/>
              </a:rPr>
              <a:t>« Refonte du site web de la commune et appui informatique aux services de la mairie. »</a:t>
            </a:r>
            <a:endParaRPr lang="en-US" sz="1800" dirty="0"/>
          </a:p>
        </p:txBody>
      </p:sp>
      <p:sp>
        <p:nvSpPr>
          <p:cNvPr id="7" name="Text 4"/>
          <p:cNvSpPr/>
          <p:nvPr/>
        </p:nvSpPr>
        <p:spPr>
          <a:xfrm>
            <a:off x="640080" y="2514600"/>
            <a:ext cx="10881360" cy="365760"/>
          </a:xfrm>
          <a:prstGeom prst="rect">
            <a:avLst/>
          </a:prstGeom>
          <a:noFill/>
          <a:ln/>
        </p:spPr>
        <p:txBody>
          <a:bodyPr wrap="square" lIns="0" tIns="0" rIns="0" bIns="0" rtlCol="0" anchor="ctr"/>
          <a:lstStyle/>
          <a:p>
            <a:pPr marL="0" indent="0">
              <a:buNone/>
            </a:pPr>
            <a:r>
              <a:rPr lang="en-US" sz="1400" dirty="0">
                <a:solidFill>
                  <a:srgbClr val="5B6776"/>
                </a:solidFill>
                <a:latin typeface="Calibri" pitchFamily="34" charset="0"/>
                <a:ea typeface="Calibri" pitchFamily="34" charset="-122"/>
                <a:cs typeface="Calibri" pitchFamily="34" charset="-120"/>
              </a:rPr>
              <a:t>Le thème de mon stage tient en une phrase, et se décline en trois axes :</a:t>
            </a:r>
            <a:endParaRPr lang="en-US" sz="1400" dirty="0"/>
          </a:p>
        </p:txBody>
      </p:sp>
      <p:sp>
        <p:nvSpPr>
          <p:cNvPr id="8" name="Shape 5"/>
          <p:cNvSpPr/>
          <p:nvPr/>
        </p:nvSpPr>
        <p:spPr>
          <a:xfrm>
            <a:off x="777240" y="3099816"/>
            <a:ext cx="566928" cy="566928"/>
          </a:xfrm>
          <a:prstGeom prst="ellipse">
            <a:avLst/>
          </a:prstGeom>
          <a:solidFill>
            <a:srgbClr val="EEF2F8"/>
          </a:solidFill>
          <a:ln/>
        </p:spPr>
      </p:sp>
      <p:pic>
        <p:nvPicPr>
          <p:cNvPr id="9" name="Image 1" descr="preencoded.png"/>
          <p:cNvPicPr>
            <a:picLocks noChangeAspect="1"/>
          </p:cNvPicPr>
          <p:nvPr/>
        </p:nvPicPr>
        <p:blipFill>
          <a:blip r:embed="rId4"/>
          <a:stretch>
            <a:fillRect/>
          </a:stretch>
        </p:blipFill>
        <p:spPr>
          <a:xfrm>
            <a:off x="923544" y="3246120"/>
            <a:ext cx="274320" cy="274320"/>
          </a:xfrm>
          <a:prstGeom prst="rect">
            <a:avLst/>
          </a:prstGeom>
        </p:spPr>
      </p:pic>
      <p:sp>
        <p:nvSpPr>
          <p:cNvPr id="10" name="Text 6"/>
          <p:cNvSpPr/>
          <p:nvPr/>
        </p:nvSpPr>
        <p:spPr>
          <a:xfrm>
            <a:off x="1490472" y="3026664"/>
            <a:ext cx="9893808" cy="749808"/>
          </a:xfrm>
          <a:prstGeom prst="rect">
            <a:avLst/>
          </a:prstGeom>
          <a:noFill/>
          <a:ln/>
        </p:spPr>
        <p:txBody>
          <a:bodyPr wrap="square" lIns="0" tIns="0" rIns="0" bIns="0" rtlCol="0" anchor="ctr"/>
          <a:lstStyle/>
          <a:p>
            <a:pPr marL="0" indent="0">
              <a:lnSpc>
                <a:spcPct val="100000"/>
              </a:lnSpc>
              <a:buNone/>
            </a:pPr>
            <a:r>
              <a:rPr lang="en-US" sz="1600" b="1" dirty="0">
                <a:solidFill>
                  <a:srgbClr val="1F2A37"/>
                </a:solidFill>
                <a:latin typeface="Calibri" pitchFamily="34" charset="0"/>
                <a:ea typeface="Calibri" pitchFamily="34" charset="-122"/>
                <a:cs typeface="Calibri" pitchFamily="34" charset="-120"/>
              </a:rPr>
              <a:t>Le site web
</a:t>
            </a:r>
            <a:endParaRPr lang="en-US" sz="1600" dirty="0"/>
          </a:p>
          <a:p>
            <a:pPr marL="0" indent="0">
              <a:lnSpc>
                <a:spcPct val="100000"/>
              </a:lnSpc>
              <a:buNone/>
            </a:pPr>
            <a:r>
              <a:rPr lang="en-US" sz="1300" dirty="0">
                <a:solidFill>
                  <a:srgbClr val="5B6776"/>
                </a:solidFill>
                <a:latin typeface="Calibri" pitchFamily="34" charset="0"/>
                <a:ea typeface="Calibri" pitchFamily="34" charset="-122"/>
                <a:cs typeface="Calibri" pitchFamily="34" charset="-120"/>
              </a:rPr>
              <a:t>Refonte complète sous WordPress : moderne, autonome et facile à maintenir.</a:t>
            </a:r>
            <a:endParaRPr lang="en-US" sz="1600" dirty="0"/>
          </a:p>
        </p:txBody>
      </p:sp>
      <p:sp>
        <p:nvSpPr>
          <p:cNvPr id="11" name="Shape 7"/>
          <p:cNvSpPr/>
          <p:nvPr/>
        </p:nvSpPr>
        <p:spPr>
          <a:xfrm>
            <a:off x="777240" y="4105656"/>
            <a:ext cx="566928" cy="566928"/>
          </a:xfrm>
          <a:prstGeom prst="ellipse">
            <a:avLst/>
          </a:prstGeom>
          <a:solidFill>
            <a:srgbClr val="EEF2F8"/>
          </a:solidFill>
          <a:ln/>
        </p:spPr>
      </p:sp>
      <p:pic>
        <p:nvPicPr>
          <p:cNvPr id="12" name="Image 2" descr="preencoded.png"/>
          <p:cNvPicPr>
            <a:picLocks noChangeAspect="1"/>
          </p:cNvPicPr>
          <p:nvPr/>
        </p:nvPicPr>
        <p:blipFill>
          <a:blip r:embed="rId5"/>
          <a:stretch>
            <a:fillRect/>
          </a:stretch>
        </p:blipFill>
        <p:spPr>
          <a:xfrm>
            <a:off x="923544" y="4251960"/>
            <a:ext cx="274320" cy="274320"/>
          </a:xfrm>
          <a:prstGeom prst="rect">
            <a:avLst/>
          </a:prstGeom>
        </p:spPr>
      </p:pic>
      <p:sp>
        <p:nvSpPr>
          <p:cNvPr id="13" name="Text 8"/>
          <p:cNvSpPr/>
          <p:nvPr/>
        </p:nvSpPr>
        <p:spPr>
          <a:xfrm>
            <a:off x="1490472" y="4032504"/>
            <a:ext cx="9893808" cy="749808"/>
          </a:xfrm>
          <a:prstGeom prst="rect">
            <a:avLst/>
          </a:prstGeom>
          <a:noFill/>
          <a:ln/>
        </p:spPr>
        <p:txBody>
          <a:bodyPr wrap="square" lIns="0" tIns="0" rIns="0" bIns="0" rtlCol="0" anchor="ctr"/>
          <a:lstStyle/>
          <a:p>
            <a:pPr marL="0" indent="0">
              <a:lnSpc>
                <a:spcPct val="100000"/>
              </a:lnSpc>
              <a:buNone/>
            </a:pPr>
            <a:r>
              <a:rPr lang="en-US" sz="1600" b="1" dirty="0">
                <a:solidFill>
                  <a:srgbClr val="1F2A37"/>
                </a:solidFill>
                <a:latin typeface="Calibri" pitchFamily="34" charset="0"/>
                <a:ea typeface="Calibri" pitchFamily="34" charset="-122"/>
                <a:cs typeface="Calibri" pitchFamily="34" charset="-120"/>
              </a:rPr>
              <a:t>L'appui informatique
</a:t>
            </a:r>
            <a:endParaRPr lang="en-US" sz="1600" dirty="0"/>
          </a:p>
          <a:p>
            <a:pPr marL="0" indent="0">
              <a:lnSpc>
                <a:spcPct val="100000"/>
              </a:lnSpc>
              <a:buNone/>
            </a:pPr>
            <a:r>
              <a:rPr lang="en-US" sz="1300" dirty="0">
                <a:solidFill>
                  <a:srgbClr val="5B6776"/>
                </a:solidFill>
                <a:latin typeface="Calibri" pitchFamily="34" charset="0"/>
                <a:ea typeface="Calibri" pitchFamily="34" charset="-122"/>
                <a:cs typeface="Calibri" pitchFamily="34" charset="-120"/>
              </a:rPr>
              <a:t>Messagerie, signatures, bureautique et dépannage au quotidien.</a:t>
            </a:r>
            <a:endParaRPr lang="en-US" sz="1600" dirty="0"/>
          </a:p>
        </p:txBody>
      </p:sp>
      <p:sp>
        <p:nvSpPr>
          <p:cNvPr id="14" name="Shape 9"/>
          <p:cNvSpPr/>
          <p:nvPr/>
        </p:nvSpPr>
        <p:spPr>
          <a:xfrm>
            <a:off x="777240" y="5111496"/>
            <a:ext cx="566928" cy="566928"/>
          </a:xfrm>
          <a:prstGeom prst="ellipse">
            <a:avLst/>
          </a:prstGeom>
          <a:solidFill>
            <a:srgbClr val="EEF2F8"/>
          </a:solidFill>
          <a:ln/>
        </p:spPr>
      </p:sp>
      <p:pic>
        <p:nvPicPr>
          <p:cNvPr id="15" name="Image 3" descr="preencoded.png"/>
          <p:cNvPicPr>
            <a:picLocks noChangeAspect="1"/>
          </p:cNvPicPr>
          <p:nvPr/>
        </p:nvPicPr>
        <p:blipFill>
          <a:blip r:embed="rId6"/>
          <a:stretch>
            <a:fillRect/>
          </a:stretch>
        </p:blipFill>
        <p:spPr>
          <a:xfrm>
            <a:off x="923544" y="5257800"/>
            <a:ext cx="274320" cy="274320"/>
          </a:xfrm>
          <a:prstGeom prst="rect">
            <a:avLst/>
          </a:prstGeom>
        </p:spPr>
      </p:pic>
      <p:sp>
        <p:nvSpPr>
          <p:cNvPr id="16" name="Text 10"/>
          <p:cNvSpPr/>
          <p:nvPr/>
        </p:nvSpPr>
        <p:spPr>
          <a:xfrm>
            <a:off x="1490472" y="5038344"/>
            <a:ext cx="9893808" cy="749808"/>
          </a:xfrm>
          <a:prstGeom prst="rect">
            <a:avLst/>
          </a:prstGeom>
          <a:noFill/>
          <a:ln/>
        </p:spPr>
        <p:txBody>
          <a:bodyPr wrap="square" lIns="0" tIns="0" rIns="0" bIns="0" rtlCol="0" anchor="ctr"/>
          <a:lstStyle/>
          <a:p>
            <a:pPr marL="0" indent="0">
              <a:lnSpc>
                <a:spcPct val="100000"/>
              </a:lnSpc>
              <a:buNone/>
            </a:pPr>
            <a:r>
              <a:rPr lang="en-US" sz="1600" b="1" dirty="0">
                <a:solidFill>
                  <a:srgbClr val="1F2A37"/>
                </a:solidFill>
                <a:latin typeface="Calibri" pitchFamily="34" charset="0"/>
                <a:ea typeface="Calibri" pitchFamily="34" charset="-122"/>
                <a:cs typeface="Calibri" pitchFamily="34" charset="-120"/>
              </a:rPr>
              <a:t>L'audit du système d'information
</a:t>
            </a:r>
            <a:endParaRPr lang="en-US" sz="1600" dirty="0"/>
          </a:p>
          <a:p>
            <a:pPr marL="0" indent="0">
              <a:lnSpc>
                <a:spcPct val="100000"/>
              </a:lnSpc>
              <a:buNone/>
            </a:pPr>
            <a:r>
              <a:rPr lang="en-US" sz="1300" dirty="0">
                <a:solidFill>
                  <a:srgbClr val="5B6776"/>
                </a:solidFill>
                <a:latin typeface="Calibri" pitchFamily="34" charset="0"/>
                <a:ea typeface="Calibri" pitchFamily="34" charset="-122"/>
                <a:cs typeface="Calibri" pitchFamily="34" charset="-120"/>
              </a:rPr>
              <a:t>État des lieux des contrats et des équipements de la commune.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603504" cy="603504"/>
          </a:xfrm>
          <a:prstGeom prst="ellipse">
            <a:avLst/>
          </a:prstGeom>
          <a:solidFill>
            <a:srgbClr val="1C5191"/>
          </a:solidFill>
          <a:ln/>
        </p:spPr>
      </p:sp>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1417320" y="457200"/>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Projet central : le site web</a:t>
            </a:r>
            <a:endParaRPr lang="en-US" sz="2700" dirty="0"/>
          </a:p>
        </p:txBody>
      </p:sp>
      <p:pic>
        <p:nvPicPr>
          <p:cNvPr id="5" name="Image 1" descr="preencoded.png"/>
          <p:cNvPicPr>
            <a:picLocks noChangeAspect="1"/>
          </p:cNvPicPr>
          <p:nvPr/>
        </p:nvPicPr>
        <p:blipFill>
          <a:blip r:embed="rId4"/>
          <a:stretch>
            <a:fillRect/>
          </a:stretch>
        </p:blipFill>
        <p:spPr>
          <a:xfrm>
            <a:off x="777240" y="1627632"/>
            <a:ext cx="384048" cy="384048"/>
          </a:xfrm>
          <a:prstGeom prst="rect">
            <a:avLst/>
          </a:prstGeom>
        </p:spPr>
      </p:pic>
      <p:sp>
        <p:nvSpPr>
          <p:cNvPr id="6" name="Text 2"/>
          <p:cNvSpPr/>
          <p:nvPr/>
        </p:nvSpPr>
        <p:spPr>
          <a:xfrm>
            <a:off x="1325880" y="1545336"/>
            <a:ext cx="5120640" cy="566928"/>
          </a:xfrm>
          <a:prstGeom prst="rect">
            <a:avLst/>
          </a:prstGeom>
          <a:noFill/>
          <a:ln/>
        </p:spPr>
        <p:txBody>
          <a:bodyPr wrap="square" lIns="0" tIns="0" rIns="0" bIns="0" rtlCol="0" anchor="ctr"/>
          <a:lstStyle/>
          <a:p>
            <a:pPr marL="0" indent="0">
              <a:buNone/>
            </a:pPr>
            <a:r>
              <a:rPr lang="en-US" sz="1600" b="1" dirty="0">
                <a:solidFill>
                  <a:srgbClr val="1F2A37"/>
                </a:solidFill>
                <a:latin typeface="Calibri" pitchFamily="34" charset="0"/>
                <a:ea typeface="Calibri" pitchFamily="34" charset="-122"/>
                <a:cs typeface="Calibri" pitchFamily="34" charset="-120"/>
              </a:rPr>
              <a:t>Thème « enfant »  </a:t>
            </a:r>
            <a:r>
              <a:rPr lang="en-US" sz="1300" dirty="0">
                <a:solidFill>
                  <a:srgbClr val="5B6776"/>
                </a:solidFill>
                <a:latin typeface="Calibri" pitchFamily="34" charset="0"/>
                <a:ea typeface="Calibri" pitchFamily="34" charset="-122"/>
                <a:cs typeface="Calibri" pitchFamily="34" charset="-120"/>
              </a:rPr>
              <a:t>construit sur la base Twenty Twenty-Five de WordPress</a:t>
            </a:r>
            <a:endParaRPr lang="en-US" sz="1600" dirty="0"/>
          </a:p>
        </p:txBody>
      </p:sp>
      <p:pic>
        <p:nvPicPr>
          <p:cNvPr id="7" name="Image 2" descr="preencoded.png"/>
          <p:cNvPicPr>
            <a:picLocks noChangeAspect="1"/>
          </p:cNvPicPr>
          <p:nvPr/>
        </p:nvPicPr>
        <p:blipFill>
          <a:blip r:embed="rId5"/>
          <a:stretch>
            <a:fillRect/>
          </a:stretch>
        </p:blipFill>
        <p:spPr>
          <a:xfrm>
            <a:off x="777240" y="2560320"/>
            <a:ext cx="384048" cy="384048"/>
          </a:xfrm>
          <a:prstGeom prst="rect">
            <a:avLst/>
          </a:prstGeom>
        </p:spPr>
      </p:pic>
      <p:sp>
        <p:nvSpPr>
          <p:cNvPr id="8" name="Text 3"/>
          <p:cNvSpPr/>
          <p:nvPr/>
        </p:nvSpPr>
        <p:spPr>
          <a:xfrm>
            <a:off x="1325880" y="2478024"/>
            <a:ext cx="5120640" cy="566928"/>
          </a:xfrm>
          <a:prstGeom prst="rect">
            <a:avLst/>
          </a:prstGeom>
          <a:noFill/>
          <a:ln/>
        </p:spPr>
        <p:txBody>
          <a:bodyPr wrap="square" lIns="0" tIns="0" rIns="0" bIns="0" rtlCol="0" anchor="ctr"/>
          <a:lstStyle/>
          <a:p>
            <a:pPr marL="0" indent="0">
              <a:buNone/>
            </a:pPr>
            <a:r>
              <a:rPr lang="en-US" sz="1600" b="1" dirty="0">
                <a:solidFill>
                  <a:srgbClr val="1F2A37"/>
                </a:solidFill>
                <a:latin typeface="Calibri" pitchFamily="34" charset="0"/>
                <a:ea typeface="Calibri" pitchFamily="34" charset="-122"/>
                <a:cs typeface="Calibri" pitchFamily="34" charset="-120"/>
              </a:rPr>
              <a:t>Système de brèves  </a:t>
            </a:r>
            <a:r>
              <a:rPr lang="en-US" sz="1300" dirty="0">
                <a:solidFill>
                  <a:srgbClr val="5B6776"/>
                </a:solidFill>
                <a:latin typeface="Calibri" pitchFamily="34" charset="0"/>
                <a:ea typeface="Calibri" pitchFamily="34" charset="-122"/>
                <a:cs typeface="Calibri" pitchFamily="34" charset="-120"/>
              </a:rPr>
              <a:t>actualités municipales auto-archivées</a:t>
            </a:r>
            <a:endParaRPr lang="en-US" sz="1600" dirty="0"/>
          </a:p>
        </p:txBody>
      </p:sp>
      <p:pic>
        <p:nvPicPr>
          <p:cNvPr id="9" name="Image 3" descr="preencoded.png"/>
          <p:cNvPicPr>
            <a:picLocks noChangeAspect="1"/>
          </p:cNvPicPr>
          <p:nvPr/>
        </p:nvPicPr>
        <p:blipFill>
          <a:blip r:embed="rId6"/>
          <a:stretch>
            <a:fillRect/>
          </a:stretch>
        </p:blipFill>
        <p:spPr>
          <a:xfrm>
            <a:off x="777240" y="3493008"/>
            <a:ext cx="384048" cy="384048"/>
          </a:xfrm>
          <a:prstGeom prst="rect">
            <a:avLst/>
          </a:prstGeom>
        </p:spPr>
      </p:pic>
      <p:sp>
        <p:nvSpPr>
          <p:cNvPr id="10" name="Text 4"/>
          <p:cNvSpPr/>
          <p:nvPr/>
        </p:nvSpPr>
        <p:spPr>
          <a:xfrm>
            <a:off x="1325880" y="3410712"/>
            <a:ext cx="5120640" cy="566928"/>
          </a:xfrm>
          <a:prstGeom prst="rect">
            <a:avLst/>
          </a:prstGeom>
          <a:noFill/>
          <a:ln/>
        </p:spPr>
        <p:txBody>
          <a:bodyPr wrap="square" lIns="0" tIns="0" rIns="0" bIns="0" rtlCol="0" anchor="ctr"/>
          <a:lstStyle/>
          <a:p>
            <a:pPr marL="0" indent="0">
              <a:buNone/>
            </a:pPr>
            <a:r>
              <a:rPr lang="en-US" sz="1600" b="1" dirty="0">
                <a:solidFill>
                  <a:srgbClr val="1F2A37"/>
                </a:solidFill>
                <a:latin typeface="Calibri" pitchFamily="34" charset="0"/>
                <a:ea typeface="Calibri" pitchFamily="34" charset="-122"/>
                <a:cs typeface="Calibri" pitchFamily="34" charset="-120"/>
              </a:rPr>
              <a:t>Galerie &amp; agenda  </a:t>
            </a:r>
            <a:r>
              <a:rPr lang="en-US" sz="1300" dirty="0">
                <a:solidFill>
                  <a:srgbClr val="5B6776"/>
                </a:solidFill>
                <a:latin typeface="Calibri" pitchFamily="34" charset="0"/>
                <a:ea typeface="Calibri" pitchFamily="34" charset="-122"/>
                <a:cs typeface="Calibri" pitchFamily="34" charset="-120"/>
              </a:rPr>
              <a:t>galerie pleine largeur et agenda automatique</a:t>
            </a:r>
            <a:endParaRPr lang="en-US" sz="1600" dirty="0"/>
          </a:p>
        </p:txBody>
      </p:sp>
      <p:pic>
        <p:nvPicPr>
          <p:cNvPr id="11" name="Image 4" descr="preencoded.png"/>
          <p:cNvPicPr>
            <a:picLocks noChangeAspect="1"/>
          </p:cNvPicPr>
          <p:nvPr/>
        </p:nvPicPr>
        <p:blipFill>
          <a:blip r:embed="rId7"/>
          <a:stretch>
            <a:fillRect/>
          </a:stretch>
        </p:blipFill>
        <p:spPr>
          <a:xfrm>
            <a:off x="777240" y="4425696"/>
            <a:ext cx="384048" cy="384048"/>
          </a:xfrm>
          <a:prstGeom prst="rect">
            <a:avLst/>
          </a:prstGeom>
        </p:spPr>
      </p:pic>
      <p:sp>
        <p:nvSpPr>
          <p:cNvPr id="12" name="Text 5"/>
          <p:cNvSpPr/>
          <p:nvPr/>
        </p:nvSpPr>
        <p:spPr>
          <a:xfrm>
            <a:off x="1325880" y="4343400"/>
            <a:ext cx="5120640" cy="566928"/>
          </a:xfrm>
          <a:prstGeom prst="rect">
            <a:avLst/>
          </a:prstGeom>
          <a:noFill/>
          <a:ln/>
        </p:spPr>
        <p:txBody>
          <a:bodyPr wrap="square" lIns="0" tIns="0" rIns="0" bIns="0" rtlCol="0" anchor="ctr"/>
          <a:lstStyle/>
          <a:p>
            <a:pPr marL="0" indent="0">
              <a:buNone/>
            </a:pPr>
            <a:r>
              <a:rPr lang="en-US" sz="1600" b="1" dirty="0">
                <a:solidFill>
                  <a:srgbClr val="1F2A37"/>
                </a:solidFill>
                <a:latin typeface="Calibri" pitchFamily="34" charset="0"/>
                <a:ea typeface="Calibri" pitchFamily="34" charset="-122"/>
                <a:cs typeface="Calibri" pitchFamily="34" charset="-120"/>
              </a:rPr>
              <a:t>Charte bleu &amp; or  </a:t>
            </a:r>
            <a:r>
              <a:rPr lang="en-US" sz="1300" dirty="0">
                <a:solidFill>
                  <a:srgbClr val="5B6776"/>
                </a:solidFill>
                <a:latin typeface="Calibri" pitchFamily="34" charset="0"/>
                <a:ea typeface="Calibri" pitchFamily="34" charset="-122"/>
                <a:cs typeface="Calibri" pitchFamily="34" charset="-120"/>
              </a:rPr>
              <a:t>aux couleurs de la commune, navigation fixe</a:t>
            </a:r>
            <a:endParaRPr lang="en-US" sz="1600" dirty="0"/>
          </a:p>
        </p:txBody>
      </p:sp>
      <p:sp>
        <p:nvSpPr>
          <p:cNvPr id="13" name="Text 6"/>
          <p:cNvSpPr/>
          <p:nvPr/>
        </p:nvSpPr>
        <p:spPr>
          <a:xfrm>
            <a:off x="777240" y="5440680"/>
            <a:ext cx="5577840" cy="640080"/>
          </a:xfrm>
          <a:prstGeom prst="rect">
            <a:avLst/>
          </a:prstGeom>
          <a:noFill/>
          <a:ln/>
        </p:spPr>
        <p:txBody>
          <a:bodyPr wrap="square" lIns="0" tIns="0" rIns="0" bIns="0" rtlCol="0" anchor="ctr"/>
          <a:lstStyle/>
          <a:p>
            <a:pPr marL="0" indent="0">
              <a:lnSpc>
                <a:spcPct val="110000"/>
              </a:lnSpc>
              <a:buNone/>
            </a:pPr>
            <a:r>
              <a:rPr lang="en-US" sz="1350" i="1" dirty="0">
                <a:solidFill>
                  <a:srgbClr val="1C5191"/>
                </a:solidFill>
                <a:latin typeface="Calibri" pitchFamily="34" charset="0"/>
                <a:ea typeface="Calibri" pitchFamily="34" charset="-122"/>
                <a:cs typeface="Calibri" pitchFamily="34" charset="-120"/>
              </a:rPr>
              <a:t>Un site repris en main de A à Z, pensé pour être maintenu sans prestataire.</a:t>
            </a:r>
            <a:endParaRPr lang="en-US" sz="1350" dirty="0"/>
          </a:p>
        </p:txBody>
      </p:sp>
      <p:sp>
        <p:nvSpPr>
          <p:cNvPr id="14" name="Shape 7"/>
          <p:cNvSpPr/>
          <p:nvPr/>
        </p:nvSpPr>
        <p:spPr>
          <a:xfrm>
            <a:off x="5996355" y="1463040"/>
            <a:ext cx="5845124" cy="4526280"/>
          </a:xfrm>
          <a:prstGeom prst="roundRect">
            <a:avLst>
              <a:gd name="adj" fmla="val 6408"/>
            </a:avLst>
          </a:prstGeom>
          <a:blipFill dpi="0" rotWithShape="1">
            <a:blip r:embed="rId8">
              <a:extLst>
                <a:ext uri="{28A0092B-C50C-407E-A947-70E740481C1C}">
                  <a14:useLocalDpi xmlns:a14="http://schemas.microsoft.com/office/drawing/2010/main" val="0"/>
                </a:ext>
              </a:extLst>
            </a:blip>
            <a:srcRect/>
            <a:stretch>
              <a:fillRect/>
            </a:stretch>
          </a:blipFill>
          <a:ln w="19050">
            <a:solidFill>
              <a:schemeClr val="accent5">
                <a:lumMod val="20000"/>
                <a:lumOff val="80000"/>
              </a:schemeClr>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640080" y="457200"/>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Les autres missions</a:t>
            </a:r>
            <a:endParaRPr lang="en-US" sz="2700" dirty="0"/>
          </a:p>
        </p:txBody>
      </p:sp>
      <p:sp>
        <p:nvSpPr>
          <p:cNvPr id="5" name="Shape 2"/>
          <p:cNvSpPr/>
          <p:nvPr/>
        </p:nvSpPr>
        <p:spPr>
          <a:xfrm>
            <a:off x="640080" y="2756096"/>
            <a:ext cx="5349240" cy="1828800"/>
          </a:xfrm>
          <a:prstGeom prst="roundRect">
            <a:avLst>
              <a:gd name="adj" fmla="val 4000"/>
            </a:avLst>
          </a:prstGeom>
          <a:solidFill>
            <a:srgbClr val="EEF2F8"/>
          </a:solidFill>
          <a:ln/>
          <a:effectLst>
            <a:outerShdw blurRad="88900" dist="38100" dir="5400000" algn="bl" rotWithShape="0">
              <a:srgbClr val="000000">
                <a:alpha val="10000"/>
              </a:srgbClr>
            </a:outerShdw>
          </a:effectLst>
        </p:spPr>
      </p:sp>
      <p:sp>
        <p:nvSpPr>
          <p:cNvPr id="6" name="Shape 3"/>
          <p:cNvSpPr/>
          <p:nvPr/>
        </p:nvSpPr>
        <p:spPr>
          <a:xfrm>
            <a:off x="1005840" y="3140144"/>
            <a:ext cx="713232" cy="713232"/>
          </a:xfrm>
          <a:prstGeom prst="ellipse">
            <a:avLst/>
          </a:prstGeom>
          <a:solidFill>
            <a:srgbClr val="FFFFFF"/>
          </a:solidFill>
          <a:ln/>
        </p:spPr>
      </p:sp>
      <p:pic>
        <p:nvPicPr>
          <p:cNvPr id="7" name="Image 1" descr="preencoded.png"/>
          <p:cNvPicPr>
            <a:picLocks noChangeAspect="1"/>
          </p:cNvPicPr>
          <p:nvPr/>
        </p:nvPicPr>
        <p:blipFill>
          <a:blip r:embed="rId4"/>
          <a:stretch>
            <a:fillRect/>
          </a:stretch>
        </p:blipFill>
        <p:spPr>
          <a:xfrm>
            <a:off x="1197864" y="3332168"/>
            <a:ext cx="329184" cy="329184"/>
          </a:xfrm>
          <a:prstGeom prst="rect">
            <a:avLst/>
          </a:prstGeom>
        </p:spPr>
      </p:pic>
      <p:sp>
        <p:nvSpPr>
          <p:cNvPr id="8" name="Text 4"/>
          <p:cNvSpPr/>
          <p:nvPr/>
        </p:nvSpPr>
        <p:spPr>
          <a:xfrm>
            <a:off x="1965960" y="3140144"/>
            <a:ext cx="3794760" cy="457200"/>
          </a:xfrm>
          <a:prstGeom prst="rect">
            <a:avLst/>
          </a:prstGeom>
          <a:noFill/>
          <a:ln/>
        </p:spPr>
        <p:txBody>
          <a:bodyPr wrap="square" lIns="0" tIns="0" rIns="0" bIns="0" rtlCol="0" anchor="ctr"/>
          <a:lstStyle/>
          <a:p>
            <a:pPr marL="0" indent="0">
              <a:buNone/>
            </a:pPr>
            <a:r>
              <a:rPr lang="en-US" sz="1800" b="1" dirty="0">
                <a:solidFill>
                  <a:srgbClr val="1F2A37"/>
                </a:solidFill>
                <a:latin typeface="Calibri" pitchFamily="34" charset="0"/>
                <a:ea typeface="Calibri" pitchFamily="34" charset="-122"/>
                <a:cs typeface="Calibri" pitchFamily="34" charset="-120"/>
              </a:rPr>
              <a:t>Signatures de messagerie</a:t>
            </a:r>
            <a:endParaRPr lang="en-US" sz="1800" dirty="0"/>
          </a:p>
        </p:txBody>
      </p:sp>
      <p:sp>
        <p:nvSpPr>
          <p:cNvPr id="9" name="Text 5"/>
          <p:cNvSpPr/>
          <p:nvPr/>
        </p:nvSpPr>
        <p:spPr>
          <a:xfrm>
            <a:off x="1965960" y="3624776"/>
            <a:ext cx="3794760" cy="640080"/>
          </a:xfrm>
          <a:prstGeom prst="rect">
            <a:avLst/>
          </a:prstGeom>
          <a:noFill/>
          <a:ln/>
        </p:spPr>
        <p:txBody>
          <a:bodyPr wrap="square" lIns="0" tIns="0" rIns="0" bIns="0" rtlCol="0" anchor="t"/>
          <a:lstStyle/>
          <a:p>
            <a:pPr marL="0" indent="0">
              <a:lnSpc>
                <a:spcPct val="110000"/>
              </a:lnSpc>
              <a:buNone/>
            </a:pPr>
            <a:r>
              <a:rPr lang="en-US" sz="1300" dirty="0">
                <a:solidFill>
                  <a:srgbClr val="5B6776"/>
                </a:solidFill>
                <a:latin typeface="Calibri" pitchFamily="34" charset="0"/>
                <a:ea typeface="Calibri" pitchFamily="34" charset="-122"/>
                <a:cs typeface="Calibri" pitchFamily="34" charset="-120"/>
              </a:rPr>
              <a:t>Harmonisées pour tous les services de la mairie</a:t>
            </a:r>
            <a:endParaRPr lang="en-US" sz="1300" dirty="0"/>
          </a:p>
        </p:txBody>
      </p:sp>
      <p:sp>
        <p:nvSpPr>
          <p:cNvPr id="21" name="Shape 15"/>
          <p:cNvSpPr/>
          <p:nvPr/>
        </p:nvSpPr>
        <p:spPr>
          <a:xfrm>
            <a:off x="6720840" y="4087368"/>
            <a:ext cx="713232" cy="713232"/>
          </a:xfrm>
          <a:prstGeom prst="ellipse">
            <a:avLst/>
          </a:prstGeom>
          <a:solidFill>
            <a:srgbClr val="FFFFFF"/>
          </a:solidFill>
          <a:ln/>
        </p:spPr>
      </p:sp>
      <p:pic>
        <p:nvPicPr>
          <p:cNvPr id="26" name="Image 25">
            <a:extLst>
              <a:ext uri="{FF2B5EF4-FFF2-40B4-BE49-F238E27FC236}">
                <a16:creationId xmlns:a16="http://schemas.microsoft.com/office/drawing/2014/main" id="{3769924B-0FE2-4870-95F9-3A660A5269F5}"/>
              </a:ext>
            </a:extLst>
          </p:cNvPr>
          <p:cNvPicPr>
            <a:picLocks noChangeAspect="1"/>
          </p:cNvPicPr>
          <p:nvPr/>
        </p:nvPicPr>
        <p:blipFill>
          <a:blip r:embed="rId5"/>
          <a:stretch>
            <a:fillRect/>
          </a:stretch>
        </p:blipFill>
        <p:spPr>
          <a:xfrm>
            <a:off x="6181344" y="2174871"/>
            <a:ext cx="5512083" cy="28449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640080" y="457200"/>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Les autres missions</a:t>
            </a:r>
            <a:endParaRPr lang="en-US" sz="2700" dirty="0"/>
          </a:p>
        </p:txBody>
      </p:sp>
      <p:sp>
        <p:nvSpPr>
          <p:cNvPr id="11" name="Shape 7"/>
          <p:cNvSpPr/>
          <p:nvPr/>
        </p:nvSpPr>
        <p:spPr>
          <a:xfrm>
            <a:off x="6720840" y="1938528"/>
            <a:ext cx="713232" cy="713232"/>
          </a:xfrm>
          <a:prstGeom prst="ellipse">
            <a:avLst/>
          </a:prstGeom>
          <a:solidFill>
            <a:srgbClr val="FFFFFF"/>
          </a:solidFill>
          <a:ln/>
        </p:spPr>
      </p:sp>
      <p:sp>
        <p:nvSpPr>
          <p:cNvPr id="15" name="Shape 10"/>
          <p:cNvSpPr/>
          <p:nvPr/>
        </p:nvSpPr>
        <p:spPr>
          <a:xfrm>
            <a:off x="640080" y="2739216"/>
            <a:ext cx="5349240" cy="1828800"/>
          </a:xfrm>
          <a:prstGeom prst="roundRect">
            <a:avLst>
              <a:gd name="adj" fmla="val 4000"/>
            </a:avLst>
          </a:prstGeom>
          <a:solidFill>
            <a:srgbClr val="EEF2F8"/>
          </a:solidFill>
          <a:ln/>
          <a:effectLst>
            <a:outerShdw blurRad="88900" dist="38100" dir="5400000" algn="bl" rotWithShape="0">
              <a:srgbClr val="000000">
                <a:alpha val="10000"/>
              </a:srgbClr>
            </a:outerShdw>
          </a:effectLst>
        </p:spPr>
      </p:sp>
      <p:sp>
        <p:nvSpPr>
          <p:cNvPr id="16" name="Shape 11"/>
          <p:cNvSpPr/>
          <p:nvPr/>
        </p:nvSpPr>
        <p:spPr>
          <a:xfrm>
            <a:off x="1005840" y="3123264"/>
            <a:ext cx="713232" cy="713232"/>
          </a:xfrm>
          <a:prstGeom prst="ellipse">
            <a:avLst/>
          </a:prstGeom>
          <a:solidFill>
            <a:srgbClr val="FFFFFF"/>
          </a:solidFill>
          <a:ln/>
        </p:spPr>
      </p:sp>
      <p:pic>
        <p:nvPicPr>
          <p:cNvPr id="17" name="Image 3" descr="preencoded.png"/>
          <p:cNvPicPr>
            <a:picLocks noChangeAspect="1"/>
          </p:cNvPicPr>
          <p:nvPr/>
        </p:nvPicPr>
        <p:blipFill>
          <a:blip r:embed="rId4"/>
          <a:stretch>
            <a:fillRect/>
          </a:stretch>
        </p:blipFill>
        <p:spPr>
          <a:xfrm>
            <a:off x="1197864" y="3315288"/>
            <a:ext cx="329184" cy="329184"/>
          </a:xfrm>
          <a:prstGeom prst="rect">
            <a:avLst/>
          </a:prstGeom>
        </p:spPr>
      </p:pic>
      <p:sp>
        <p:nvSpPr>
          <p:cNvPr id="18" name="Text 12"/>
          <p:cNvSpPr/>
          <p:nvPr/>
        </p:nvSpPr>
        <p:spPr>
          <a:xfrm>
            <a:off x="1965960" y="3123264"/>
            <a:ext cx="3794760" cy="457200"/>
          </a:xfrm>
          <a:prstGeom prst="rect">
            <a:avLst/>
          </a:prstGeom>
          <a:noFill/>
          <a:ln/>
        </p:spPr>
        <p:txBody>
          <a:bodyPr wrap="square" lIns="0" tIns="0" rIns="0" bIns="0" rtlCol="0" anchor="ctr"/>
          <a:lstStyle/>
          <a:p>
            <a:pPr marL="0" indent="0">
              <a:buNone/>
            </a:pPr>
            <a:r>
              <a:rPr lang="en-US" sz="1800" b="1" dirty="0">
                <a:solidFill>
                  <a:srgbClr val="1F2A37"/>
                </a:solidFill>
                <a:latin typeface="Calibri" pitchFamily="34" charset="0"/>
                <a:ea typeface="Calibri" pitchFamily="34" charset="-122"/>
                <a:cs typeface="Calibri" pitchFamily="34" charset="-120"/>
              </a:rPr>
              <a:t>Bureautique</a:t>
            </a:r>
            <a:endParaRPr lang="en-US" sz="1800" dirty="0"/>
          </a:p>
        </p:txBody>
      </p:sp>
      <p:sp>
        <p:nvSpPr>
          <p:cNvPr id="19" name="Text 13"/>
          <p:cNvSpPr/>
          <p:nvPr/>
        </p:nvSpPr>
        <p:spPr>
          <a:xfrm>
            <a:off x="1965960" y="3607896"/>
            <a:ext cx="3794760" cy="640080"/>
          </a:xfrm>
          <a:prstGeom prst="rect">
            <a:avLst/>
          </a:prstGeom>
          <a:noFill/>
          <a:ln/>
        </p:spPr>
        <p:txBody>
          <a:bodyPr wrap="square" lIns="0" tIns="0" rIns="0" bIns="0" rtlCol="0" anchor="t"/>
          <a:lstStyle/>
          <a:p>
            <a:pPr marL="0" indent="0">
              <a:lnSpc>
                <a:spcPct val="110000"/>
              </a:lnSpc>
              <a:buNone/>
            </a:pPr>
            <a:r>
              <a:rPr lang="en-US" sz="1300" dirty="0">
                <a:solidFill>
                  <a:srgbClr val="5B6776"/>
                </a:solidFill>
                <a:latin typeface="Calibri" pitchFamily="34" charset="0"/>
                <a:ea typeface="Calibri" pitchFamily="34" charset="-122"/>
                <a:cs typeface="Calibri" pitchFamily="34" charset="-120"/>
              </a:rPr>
              <a:t>Modèles Excel et courriers municipaux</a:t>
            </a:r>
            <a:endParaRPr lang="en-US" sz="1300" dirty="0"/>
          </a:p>
        </p:txBody>
      </p:sp>
      <p:pic>
        <p:nvPicPr>
          <p:cNvPr id="26" name="Image 25">
            <a:extLst>
              <a:ext uri="{FF2B5EF4-FFF2-40B4-BE49-F238E27FC236}">
                <a16:creationId xmlns:a16="http://schemas.microsoft.com/office/drawing/2014/main" id="{F58FB711-EA4B-2F29-7E75-BA953C83294E}"/>
              </a:ext>
            </a:extLst>
          </p:cNvPr>
          <p:cNvPicPr>
            <a:picLocks noChangeAspect="1"/>
          </p:cNvPicPr>
          <p:nvPr/>
        </p:nvPicPr>
        <p:blipFill>
          <a:blip r:embed="rId5"/>
          <a:stretch>
            <a:fillRect/>
          </a:stretch>
        </p:blipFill>
        <p:spPr>
          <a:xfrm>
            <a:off x="6096000" y="1703399"/>
            <a:ext cx="5992270" cy="3451202"/>
          </a:xfrm>
          <a:prstGeom prst="rect">
            <a:avLst/>
          </a:prstGeom>
        </p:spPr>
      </p:pic>
      <p:sp>
        <p:nvSpPr>
          <p:cNvPr id="27" name="Rectangle 26">
            <a:extLst>
              <a:ext uri="{FF2B5EF4-FFF2-40B4-BE49-F238E27FC236}">
                <a16:creationId xmlns:a16="http://schemas.microsoft.com/office/drawing/2014/main" id="{2820F42F-548F-B034-D265-CA05870E89E9}"/>
              </a:ext>
            </a:extLst>
          </p:cNvPr>
          <p:cNvSpPr/>
          <p:nvPr/>
        </p:nvSpPr>
        <p:spPr>
          <a:xfrm>
            <a:off x="6355079" y="1938528"/>
            <a:ext cx="1487659" cy="3216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6482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6384" y="603504"/>
            <a:ext cx="310896" cy="310896"/>
          </a:xfrm>
          <a:prstGeom prst="rect">
            <a:avLst/>
          </a:prstGeom>
        </p:spPr>
      </p:pic>
      <p:sp>
        <p:nvSpPr>
          <p:cNvPr id="4" name="Text 1"/>
          <p:cNvSpPr/>
          <p:nvPr/>
        </p:nvSpPr>
        <p:spPr>
          <a:xfrm>
            <a:off x="640080" y="457200"/>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Les autres missions</a:t>
            </a:r>
            <a:endParaRPr lang="en-US" sz="2700" dirty="0"/>
          </a:p>
        </p:txBody>
      </p:sp>
      <p:sp>
        <p:nvSpPr>
          <p:cNvPr id="11" name="Shape 7"/>
          <p:cNvSpPr/>
          <p:nvPr/>
        </p:nvSpPr>
        <p:spPr>
          <a:xfrm>
            <a:off x="6720840" y="1938528"/>
            <a:ext cx="713232" cy="713232"/>
          </a:xfrm>
          <a:prstGeom prst="ellipse">
            <a:avLst/>
          </a:prstGeom>
          <a:solidFill>
            <a:srgbClr val="FFFFFF"/>
          </a:solidFill>
          <a:ln/>
        </p:spPr>
      </p:sp>
      <p:sp>
        <p:nvSpPr>
          <p:cNvPr id="16" name="Shape 11"/>
          <p:cNvSpPr/>
          <p:nvPr/>
        </p:nvSpPr>
        <p:spPr>
          <a:xfrm>
            <a:off x="1005840" y="3358901"/>
            <a:ext cx="713232" cy="713232"/>
          </a:xfrm>
          <a:prstGeom prst="ellipse">
            <a:avLst/>
          </a:prstGeom>
          <a:solidFill>
            <a:srgbClr val="FFFFFF"/>
          </a:solidFill>
          <a:ln/>
        </p:spPr>
      </p:sp>
      <p:sp>
        <p:nvSpPr>
          <p:cNvPr id="5" name="Shape 6">
            <a:extLst>
              <a:ext uri="{FF2B5EF4-FFF2-40B4-BE49-F238E27FC236}">
                <a16:creationId xmlns:a16="http://schemas.microsoft.com/office/drawing/2014/main" id="{02C70E3C-6CF7-52B7-59CD-B74BE1A55B52}"/>
              </a:ext>
            </a:extLst>
          </p:cNvPr>
          <p:cNvSpPr/>
          <p:nvPr/>
        </p:nvSpPr>
        <p:spPr>
          <a:xfrm>
            <a:off x="640080" y="2750237"/>
            <a:ext cx="5349240" cy="1828800"/>
          </a:xfrm>
          <a:prstGeom prst="roundRect">
            <a:avLst>
              <a:gd name="adj" fmla="val 4000"/>
            </a:avLst>
          </a:prstGeom>
          <a:solidFill>
            <a:srgbClr val="EEF2F8"/>
          </a:solidFill>
          <a:ln/>
          <a:effectLst>
            <a:outerShdw blurRad="88900" dist="38100" dir="5400000" algn="bl" rotWithShape="0">
              <a:srgbClr val="000000">
                <a:alpha val="10000"/>
              </a:srgbClr>
            </a:outerShdw>
          </a:effectLst>
        </p:spPr>
      </p:sp>
      <p:sp>
        <p:nvSpPr>
          <p:cNvPr id="6" name="Shape 7">
            <a:extLst>
              <a:ext uri="{FF2B5EF4-FFF2-40B4-BE49-F238E27FC236}">
                <a16:creationId xmlns:a16="http://schemas.microsoft.com/office/drawing/2014/main" id="{A687DE12-4B03-6A88-1D7E-89726C28D444}"/>
              </a:ext>
            </a:extLst>
          </p:cNvPr>
          <p:cNvSpPr/>
          <p:nvPr/>
        </p:nvSpPr>
        <p:spPr>
          <a:xfrm>
            <a:off x="1005840" y="3134285"/>
            <a:ext cx="713232" cy="713232"/>
          </a:xfrm>
          <a:prstGeom prst="ellipse">
            <a:avLst/>
          </a:prstGeom>
          <a:solidFill>
            <a:srgbClr val="FFFFFF"/>
          </a:solidFill>
          <a:ln/>
        </p:spPr>
      </p:sp>
      <p:pic>
        <p:nvPicPr>
          <p:cNvPr id="7" name="Image 2" descr="preencoded.png">
            <a:extLst>
              <a:ext uri="{FF2B5EF4-FFF2-40B4-BE49-F238E27FC236}">
                <a16:creationId xmlns:a16="http://schemas.microsoft.com/office/drawing/2014/main" id="{1A07CB02-433D-A868-0D48-BC6CE4861CB9}"/>
              </a:ext>
            </a:extLst>
          </p:cNvPr>
          <p:cNvPicPr>
            <a:picLocks noChangeAspect="1"/>
          </p:cNvPicPr>
          <p:nvPr/>
        </p:nvPicPr>
        <p:blipFill>
          <a:blip r:embed="rId4"/>
          <a:stretch>
            <a:fillRect/>
          </a:stretch>
        </p:blipFill>
        <p:spPr>
          <a:xfrm>
            <a:off x="1197864" y="3326309"/>
            <a:ext cx="329184" cy="329184"/>
          </a:xfrm>
          <a:prstGeom prst="rect">
            <a:avLst/>
          </a:prstGeom>
        </p:spPr>
      </p:pic>
      <p:sp>
        <p:nvSpPr>
          <p:cNvPr id="8" name="Text 8">
            <a:extLst>
              <a:ext uri="{FF2B5EF4-FFF2-40B4-BE49-F238E27FC236}">
                <a16:creationId xmlns:a16="http://schemas.microsoft.com/office/drawing/2014/main" id="{340C5287-5E61-6246-D327-07260AEEC75E}"/>
              </a:ext>
            </a:extLst>
          </p:cNvPr>
          <p:cNvSpPr/>
          <p:nvPr/>
        </p:nvSpPr>
        <p:spPr>
          <a:xfrm>
            <a:off x="1965960" y="3134285"/>
            <a:ext cx="3794760" cy="457200"/>
          </a:xfrm>
          <a:prstGeom prst="rect">
            <a:avLst/>
          </a:prstGeom>
          <a:noFill/>
          <a:ln/>
        </p:spPr>
        <p:txBody>
          <a:bodyPr wrap="square" lIns="0" tIns="0" rIns="0" bIns="0" rtlCol="0" anchor="ctr"/>
          <a:lstStyle/>
          <a:p>
            <a:pPr marL="0" indent="0">
              <a:buNone/>
            </a:pPr>
            <a:r>
              <a:rPr lang="en-US" sz="1800" b="1" dirty="0">
                <a:solidFill>
                  <a:srgbClr val="1F2A37"/>
                </a:solidFill>
                <a:latin typeface="Calibri" pitchFamily="34" charset="0"/>
                <a:ea typeface="Calibri" pitchFamily="34" charset="-122"/>
                <a:cs typeface="Calibri" pitchFamily="34" charset="-120"/>
              </a:rPr>
              <a:t>Vidéosurveillance</a:t>
            </a:r>
            <a:endParaRPr lang="en-US" sz="1800" dirty="0"/>
          </a:p>
        </p:txBody>
      </p:sp>
      <p:sp>
        <p:nvSpPr>
          <p:cNvPr id="9" name="Text 9">
            <a:extLst>
              <a:ext uri="{FF2B5EF4-FFF2-40B4-BE49-F238E27FC236}">
                <a16:creationId xmlns:a16="http://schemas.microsoft.com/office/drawing/2014/main" id="{DEBE65C4-6A30-E07A-3709-E82B82199B80}"/>
              </a:ext>
            </a:extLst>
          </p:cNvPr>
          <p:cNvSpPr/>
          <p:nvPr/>
        </p:nvSpPr>
        <p:spPr>
          <a:xfrm>
            <a:off x="1965960" y="3618917"/>
            <a:ext cx="3794760" cy="640080"/>
          </a:xfrm>
          <a:prstGeom prst="rect">
            <a:avLst/>
          </a:prstGeom>
          <a:noFill/>
          <a:ln/>
        </p:spPr>
        <p:txBody>
          <a:bodyPr wrap="square" lIns="0" tIns="0" rIns="0" bIns="0" rtlCol="0" anchor="t"/>
          <a:lstStyle/>
          <a:p>
            <a:pPr marL="0" indent="0">
              <a:lnSpc>
                <a:spcPct val="110000"/>
              </a:lnSpc>
              <a:buNone/>
            </a:pPr>
            <a:r>
              <a:rPr lang="en-US" sz="1300" dirty="0">
                <a:solidFill>
                  <a:srgbClr val="5B6776"/>
                </a:solidFill>
                <a:latin typeface="Calibri" pitchFamily="34" charset="0"/>
                <a:ea typeface="Calibri" pitchFamily="34" charset="-122"/>
                <a:cs typeface="Calibri" pitchFamily="34" charset="-120"/>
              </a:rPr>
              <a:t>Diagnostic et dépannage du système communal</a:t>
            </a:r>
            <a:endParaRPr lang="en-US" sz="1300" dirty="0"/>
          </a:p>
        </p:txBody>
      </p:sp>
      <p:sp>
        <p:nvSpPr>
          <p:cNvPr id="12" name="Shape 14">
            <a:extLst>
              <a:ext uri="{FF2B5EF4-FFF2-40B4-BE49-F238E27FC236}">
                <a16:creationId xmlns:a16="http://schemas.microsoft.com/office/drawing/2014/main" id="{84F7461D-8B3A-BD1E-6C38-3F3D0D2C8314}"/>
              </a:ext>
            </a:extLst>
          </p:cNvPr>
          <p:cNvSpPr/>
          <p:nvPr/>
        </p:nvSpPr>
        <p:spPr>
          <a:xfrm>
            <a:off x="6236208" y="2741093"/>
            <a:ext cx="5349240" cy="1828800"/>
          </a:xfrm>
          <a:prstGeom prst="roundRect">
            <a:avLst>
              <a:gd name="adj" fmla="val 4000"/>
            </a:avLst>
          </a:prstGeom>
          <a:solidFill>
            <a:srgbClr val="EEF2F8"/>
          </a:solidFill>
          <a:ln/>
          <a:effectLst>
            <a:outerShdw blurRad="88900" dist="38100" dir="5400000" algn="bl" rotWithShape="0">
              <a:srgbClr val="000000">
                <a:alpha val="10000"/>
              </a:srgbClr>
            </a:outerShdw>
          </a:effectLst>
        </p:spPr>
      </p:sp>
      <p:sp>
        <p:nvSpPr>
          <p:cNvPr id="13" name="Shape 15">
            <a:extLst>
              <a:ext uri="{FF2B5EF4-FFF2-40B4-BE49-F238E27FC236}">
                <a16:creationId xmlns:a16="http://schemas.microsoft.com/office/drawing/2014/main" id="{A7615F50-55F0-9A19-1524-269F5002C790}"/>
              </a:ext>
            </a:extLst>
          </p:cNvPr>
          <p:cNvSpPr/>
          <p:nvPr/>
        </p:nvSpPr>
        <p:spPr>
          <a:xfrm>
            <a:off x="6601968" y="3125141"/>
            <a:ext cx="713232" cy="713232"/>
          </a:xfrm>
          <a:prstGeom prst="ellipse">
            <a:avLst/>
          </a:prstGeom>
          <a:solidFill>
            <a:srgbClr val="FFFFFF"/>
          </a:solidFill>
          <a:ln/>
        </p:spPr>
      </p:sp>
      <p:pic>
        <p:nvPicPr>
          <p:cNvPr id="14" name="Image 4" descr="preencoded.png">
            <a:extLst>
              <a:ext uri="{FF2B5EF4-FFF2-40B4-BE49-F238E27FC236}">
                <a16:creationId xmlns:a16="http://schemas.microsoft.com/office/drawing/2014/main" id="{AEC3C82E-2A6F-CF81-B76F-E7944D48411E}"/>
              </a:ext>
            </a:extLst>
          </p:cNvPr>
          <p:cNvPicPr>
            <a:picLocks noChangeAspect="1"/>
          </p:cNvPicPr>
          <p:nvPr/>
        </p:nvPicPr>
        <p:blipFill>
          <a:blip r:embed="rId5"/>
          <a:stretch>
            <a:fillRect/>
          </a:stretch>
        </p:blipFill>
        <p:spPr>
          <a:xfrm>
            <a:off x="6793992" y="3317165"/>
            <a:ext cx="329184" cy="329184"/>
          </a:xfrm>
          <a:prstGeom prst="rect">
            <a:avLst/>
          </a:prstGeom>
        </p:spPr>
      </p:pic>
      <p:sp>
        <p:nvSpPr>
          <p:cNvPr id="20" name="Text 16">
            <a:extLst>
              <a:ext uri="{FF2B5EF4-FFF2-40B4-BE49-F238E27FC236}">
                <a16:creationId xmlns:a16="http://schemas.microsoft.com/office/drawing/2014/main" id="{5050EFB5-5B9F-376C-11B3-276D3209E1DC}"/>
              </a:ext>
            </a:extLst>
          </p:cNvPr>
          <p:cNvSpPr/>
          <p:nvPr/>
        </p:nvSpPr>
        <p:spPr>
          <a:xfrm>
            <a:off x="7562088" y="3125141"/>
            <a:ext cx="3794760" cy="457200"/>
          </a:xfrm>
          <a:prstGeom prst="rect">
            <a:avLst/>
          </a:prstGeom>
          <a:noFill/>
          <a:ln/>
        </p:spPr>
        <p:txBody>
          <a:bodyPr wrap="square" lIns="0" tIns="0" rIns="0" bIns="0" rtlCol="0" anchor="ctr"/>
          <a:lstStyle/>
          <a:p>
            <a:pPr marL="0" indent="0">
              <a:buNone/>
            </a:pPr>
            <a:r>
              <a:rPr lang="en-US" sz="1800" b="1" dirty="0">
                <a:solidFill>
                  <a:srgbClr val="1F2A37"/>
                </a:solidFill>
                <a:latin typeface="Calibri" pitchFamily="34" charset="0"/>
                <a:ea typeface="Calibri" pitchFamily="34" charset="-122"/>
                <a:cs typeface="Calibri" pitchFamily="34" charset="-120"/>
              </a:rPr>
              <a:t>Audit des contrats</a:t>
            </a:r>
            <a:endParaRPr lang="en-US" sz="1800" dirty="0"/>
          </a:p>
        </p:txBody>
      </p:sp>
      <p:sp>
        <p:nvSpPr>
          <p:cNvPr id="21" name="Text 17">
            <a:extLst>
              <a:ext uri="{FF2B5EF4-FFF2-40B4-BE49-F238E27FC236}">
                <a16:creationId xmlns:a16="http://schemas.microsoft.com/office/drawing/2014/main" id="{261B24CD-E1D1-E049-8667-FA2756A8DD77}"/>
              </a:ext>
            </a:extLst>
          </p:cNvPr>
          <p:cNvSpPr/>
          <p:nvPr/>
        </p:nvSpPr>
        <p:spPr>
          <a:xfrm>
            <a:off x="7562088" y="3609773"/>
            <a:ext cx="3794760" cy="640080"/>
          </a:xfrm>
          <a:prstGeom prst="rect">
            <a:avLst/>
          </a:prstGeom>
          <a:noFill/>
          <a:ln/>
        </p:spPr>
        <p:txBody>
          <a:bodyPr wrap="square" lIns="0" tIns="0" rIns="0" bIns="0" rtlCol="0" anchor="t"/>
          <a:lstStyle/>
          <a:p>
            <a:pPr marL="0" indent="0">
              <a:lnSpc>
                <a:spcPct val="110000"/>
              </a:lnSpc>
              <a:buNone/>
            </a:pPr>
            <a:r>
              <a:rPr lang="en-US" sz="1300" dirty="0">
                <a:solidFill>
                  <a:srgbClr val="5B6776"/>
                </a:solidFill>
                <a:latin typeface="Calibri" pitchFamily="34" charset="0"/>
                <a:ea typeface="Calibri" pitchFamily="34" charset="-122"/>
                <a:cs typeface="Calibri" pitchFamily="34" charset="-120"/>
              </a:rPr>
              <a:t>État des lieux des prestations informatiques</a:t>
            </a:r>
            <a:endParaRPr lang="en-US" sz="1300" dirty="0"/>
          </a:p>
        </p:txBody>
      </p:sp>
    </p:spTree>
    <p:extLst>
      <p:ext uri="{BB962C8B-B14F-4D97-AF65-F5344CB8AC3E}">
        <p14:creationId xmlns:p14="http://schemas.microsoft.com/office/powerpoint/2010/main" val="1945615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1"/>
          <p:cNvSpPr/>
          <p:nvPr/>
        </p:nvSpPr>
        <p:spPr>
          <a:xfrm>
            <a:off x="640080" y="420624"/>
            <a:ext cx="10058400" cy="603504"/>
          </a:xfrm>
          <a:prstGeom prst="rect">
            <a:avLst/>
          </a:prstGeom>
          <a:noFill/>
          <a:ln/>
        </p:spPr>
        <p:txBody>
          <a:bodyPr wrap="square" lIns="0" tIns="0" rIns="0" bIns="0" rtlCol="0" anchor="ctr"/>
          <a:lstStyle/>
          <a:p>
            <a:pPr marL="0" indent="0">
              <a:buNone/>
            </a:pPr>
            <a:r>
              <a:rPr lang="en-US" sz="2700" b="1" dirty="0">
                <a:solidFill>
                  <a:srgbClr val="1C5191"/>
                </a:solidFill>
                <a:latin typeface="Calibri" pitchFamily="34" charset="0"/>
                <a:ea typeface="Calibri" pitchFamily="34" charset="-122"/>
                <a:cs typeface="Calibri" pitchFamily="34" charset="-120"/>
              </a:rPr>
              <a:t>Où j'en suis à la mi-stage</a:t>
            </a:r>
            <a:endParaRPr lang="en-US" sz="2700" dirty="0"/>
          </a:p>
        </p:txBody>
      </p:sp>
      <p:sp>
        <p:nvSpPr>
          <p:cNvPr id="5" name="Text 2"/>
          <p:cNvSpPr/>
          <p:nvPr/>
        </p:nvSpPr>
        <p:spPr>
          <a:xfrm>
            <a:off x="640080" y="1463040"/>
            <a:ext cx="5120640" cy="411480"/>
          </a:xfrm>
          <a:prstGeom prst="rect">
            <a:avLst/>
          </a:prstGeom>
          <a:noFill/>
          <a:ln/>
        </p:spPr>
        <p:txBody>
          <a:bodyPr wrap="square" lIns="0" tIns="0" rIns="0" bIns="0" rtlCol="0" anchor="ctr"/>
          <a:lstStyle/>
          <a:p>
            <a:pPr marL="0" indent="0">
              <a:buNone/>
            </a:pPr>
            <a:r>
              <a:rPr lang="en-US" sz="1800" b="1" dirty="0">
                <a:solidFill>
                  <a:srgbClr val="1C5191"/>
                </a:solidFill>
                <a:latin typeface="Calibri" pitchFamily="34" charset="0"/>
                <a:ea typeface="Calibri" pitchFamily="34" charset="-122"/>
                <a:cs typeface="Calibri" pitchFamily="34" charset="-120"/>
              </a:rPr>
              <a:t>Déjà réalisé</a:t>
            </a:r>
            <a:endParaRPr lang="en-US" sz="1800" dirty="0"/>
          </a:p>
        </p:txBody>
      </p:sp>
      <p:sp>
        <p:nvSpPr>
          <p:cNvPr id="6" name="Shape 3"/>
          <p:cNvSpPr/>
          <p:nvPr/>
        </p:nvSpPr>
        <p:spPr>
          <a:xfrm>
            <a:off x="640080" y="2011680"/>
            <a:ext cx="384048" cy="384048"/>
          </a:xfrm>
          <a:prstGeom prst="ellipse">
            <a:avLst/>
          </a:prstGeom>
          <a:solidFill>
            <a:srgbClr val="DCA828"/>
          </a:solidFill>
          <a:ln/>
        </p:spPr>
      </p:sp>
      <p:pic>
        <p:nvPicPr>
          <p:cNvPr id="7" name="Image 1" descr="preencoded.png"/>
          <p:cNvPicPr>
            <a:picLocks noChangeAspect="1"/>
          </p:cNvPicPr>
          <p:nvPr/>
        </p:nvPicPr>
        <p:blipFill>
          <a:blip r:embed="rId3"/>
          <a:stretch>
            <a:fillRect/>
          </a:stretch>
        </p:blipFill>
        <p:spPr>
          <a:xfrm>
            <a:off x="740664" y="2112264"/>
            <a:ext cx="182880" cy="182880"/>
          </a:xfrm>
          <a:prstGeom prst="rect">
            <a:avLst/>
          </a:prstGeom>
        </p:spPr>
      </p:pic>
      <p:sp>
        <p:nvSpPr>
          <p:cNvPr id="8" name="Text 4"/>
          <p:cNvSpPr/>
          <p:nvPr/>
        </p:nvSpPr>
        <p:spPr>
          <a:xfrm>
            <a:off x="1188720" y="1975104"/>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Site en ligne : base + thème sur mesure</a:t>
            </a:r>
            <a:endParaRPr lang="en-US" sz="1450" dirty="0"/>
          </a:p>
        </p:txBody>
      </p:sp>
      <p:sp>
        <p:nvSpPr>
          <p:cNvPr id="9" name="Shape 5"/>
          <p:cNvSpPr/>
          <p:nvPr/>
        </p:nvSpPr>
        <p:spPr>
          <a:xfrm>
            <a:off x="640080" y="2688336"/>
            <a:ext cx="384048" cy="384048"/>
          </a:xfrm>
          <a:prstGeom prst="ellipse">
            <a:avLst/>
          </a:prstGeom>
          <a:solidFill>
            <a:srgbClr val="DCA828"/>
          </a:solidFill>
          <a:ln/>
        </p:spPr>
      </p:sp>
      <p:pic>
        <p:nvPicPr>
          <p:cNvPr id="10" name="Image 2" descr="preencoded.png"/>
          <p:cNvPicPr>
            <a:picLocks noChangeAspect="1"/>
          </p:cNvPicPr>
          <p:nvPr/>
        </p:nvPicPr>
        <p:blipFill>
          <a:blip r:embed="rId3"/>
          <a:stretch>
            <a:fillRect/>
          </a:stretch>
        </p:blipFill>
        <p:spPr>
          <a:xfrm>
            <a:off x="740664" y="2788920"/>
            <a:ext cx="182880" cy="182880"/>
          </a:xfrm>
          <a:prstGeom prst="rect">
            <a:avLst/>
          </a:prstGeom>
        </p:spPr>
      </p:pic>
      <p:sp>
        <p:nvSpPr>
          <p:cNvPr id="11" name="Text 6"/>
          <p:cNvSpPr/>
          <p:nvPr/>
        </p:nvSpPr>
        <p:spPr>
          <a:xfrm>
            <a:off x="1188720" y="2651760"/>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Signatures de messagerie déployées</a:t>
            </a:r>
            <a:endParaRPr lang="en-US" sz="1450" dirty="0"/>
          </a:p>
        </p:txBody>
      </p:sp>
      <p:sp>
        <p:nvSpPr>
          <p:cNvPr id="12" name="Shape 7"/>
          <p:cNvSpPr/>
          <p:nvPr/>
        </p:nvSpPr>
        <p:spPr>
          <a:xfrm>
            <a:off x="640080" y="3364992"/>
            <a:ext cx="384048" cy="384048"/>
          </a:xfrm>
          <a:prstGeom prst="ellipse">
            <a:avLst/>
          </a:prstGeom>
          <a:solidFill>
            <a:srgbClr val="DCA828"/>
          </a:solidFill>
          <a:ln/>
        </p:spPr>
      </p:sp>
      <p:pic>
        <p:nvPicPr>
          <p:cNvPr id="13" name="Image 3" descr="preencoded.png"/>
          <p:cNvPicPr>
            <a:picLocks noChangeAspect="1"/>
          </p:cNvPicPr>
          <p:nvPr/>
        </p:nvPicPr>
        <p:blipFill>
          <a:blip r:embed="rId3"/>
          <a:stretch>
            <a:fillRect/>
          </a:stretch>
        </p:blipFill>
        <p:spPr>
          <a:xfrm>
            <a:off x="740664" y="3465576"/>
            <a:ext cx="182880" cy="182880"/>
          </a:xfrm>
          <a:prstGeom prst="rect">
            <a:avLst/>
          </a:prstGeom>
        </p:spPr>
      </p:pic>
      <p:sp>
        <p:nvSpPr>
          <p:cNvPr id="14" name="Text 8"/>
          <p:cNvSpPr/>
          <p:nvPr/>
        </p:nvSpPr>
        <p:spPr>
          <a:xfrm>
            <a:off x="1188720" y="3328416"/>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Audit informatique lancé</a:t>
            </a:r>
            <a:endParaRPr lang="en-US" sz="1450" dirty="0"/>
          </a:p>
        </p:txBody>
      </p:sp>
      <p:sp>
        <p:nvSpPr>
          <p:cNvPr id="15" name="Shape 9"/>
          <p:cNvSpPr/>
          <p:nvPr/>
        </p:nvSpPr>
        <p:spPr>
          <a:xfrm>
            <a:off x="640080" y="4041648"/>
            <a:ext cx="384048" cy="384048"/>
          </a:xfrm>
          <a:prstGeom prst="ellipse">
            <a:avLst/>
          </a:prstGeom>
          <a:solidFill>
            <a:srgbClr val="DCA828"/>
          </a:solidFill>
          <a:ln/>
        </p:spPr>
      </p:sp>
      <p:pic>
        <p:nvPicPr>
          <p:cNvPr id="16" name="Image 4" descr="preencoded.png"/>
          <p:cNvPicPr>
            <a:picLocks noChangeAspect="1"/>
          </p:cNvPicPr>
          <p:nvPr/>
        </p:nvPicPr>
        <p:blipFill>
          <a:blip r:embed="rId3"/>
          <a:stretch>
            <a:fillRect/>
          </a:stretch>
        </p:blipFill>
        <p:spPr>
          <a:xfrm>
            <a:off x="740664" y="4142232"/>
            <a:ext cx="182880" cy="182880"/>
          </a:xfrm>
          <a:prstGeom prst="rect">
            <a:avLst/>
          </a:prstGeom>
        </p:spPr>
      </p:pic>
      <p:sp>
        <p:nvSpPr>
          <p:cNvPr id="17" name="Text 10"/>
          <p:cNvSpPr/>
          <p:nvPr/>
        </p:nvSpPr>
        <p:spPr>
          <a:xfrm>
            <a:off x="1188720" y="4005072"/>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Intégré à l'équipe &amp; au comité de com</a:t>
            </a:r>
            <a:endParaRPr lang="en-US" sz="1450" dirty="0"/>
          </a:p>
        </p:txBody>
      </p:sp>
      <p:sp>
        <p:nvSpPr>
          <p:cNvPr id="18" name="Text 11"/>
          <p:cNvSpPr/>
          <p:nvPr/>
        </p:nvSpPr>
        <p:spPr>
          <a:xfrm>
            <a:off x="6400800" y="1463040"/>
            <a:ext cx="5120640" cy="411480"/>
          </a:xfrm>
          <a:prstGeom prst="rect">
            <a:avLst/>
          </a:prstGeom>
          <a:noFill/>
          <a:ln/>
        </p:spPr>
        <p:txBody>
          <a:bodyPr wrap="square" lIns="0" tIns="0" rIns="0" bIns="0" rtlCol="0" anchor="ctr"/>
          <a:lstStyle/>
          <a:p>
            <a:pPr marL="0" indent="0">
              <a:buNone/>
            </a:pPr>
            <a:r>
              <a:rPr lang="en-US" sz="1800" b="1" dirty="0">
                <a:solidFill>
                  <a:srgbClr val="1C5191"/>
                </a:solidFill>
                <a:latin typeface="Calibri" pitchFamily="34" charset="0"/>
                <a:ea typeface="Calibri" pitchFamily="34" charset="-122"/>
                <a:cs typeface="Calibri" pitchFamily="34" charset="-120"/>
              </a:rPr>
              <a:t>Seconde moitié du stage</a:t>
            </a:r>
            <a:endParaRPr lang="en-US" sz="1800" dirty="0"/>
          </a:p>
        </p:txBody>
      </p:sp>
      <p:sp>
        <p:nvSpPr>
          <p:cNvPr id="19" name="Shape 12"/>
          <p:cNvSpPr/>
          <p:nvPr/>
        </p:nvSpPr>
        <p:spPr>
          <a:xfrm>
            <a:off x="6400800" y="2011680"/>
            <a:ext cx="384048" cy="384048"/>
          </a:xfrm>
          <a:prstGeom prst="ellipse">
            <a:avLst/>
          </a:prstGeom>
          <a:solidFill>
            <a:srgbClr val="EEF2F8"/>
          </a:solidFill>
          <a:ln/>
        </p:spPr>
      </p:sp>
      <p:pic>
        <p:nvPicPr>
          <p:cNvPr id="20" name="Image 5" descr="preencoded.png"/>
          <p:cNvPicPr>
            <a:picLocks noChangeAspect="1"/>
          </p:cNvPicPr>
          <p:nvPr/>
        </p:nvPicPr>
        <p:blipFill>
          <a:blip r:embed="rId4"/>
          <a:stretch>
            <a:fillRect/>
          </a:stretch>
        </p:blipFill>
        <p:spPr>
          <a:xfrm>
            <a:off x="6501384" y="2112264"/>
            <a:ext cx="182880" cy="182880"/>
          </a:xfrm>
          <a:prstGeom prst="rect">
            <a:avLst/>
          </a:prstGeom>
        </p:spPr>
      </p:pic>
      <p:sp>
        <p:nvSpPr>
          <p:cNvPr id="21" name="Text 13"/>
          <p:cNvSpPr/>
          <p:nvPr/>
        </p:nvSpPr>
        <p:spPr>
          <a:xfrm>
            <a:off x="6949440" y="1975104"/>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Finalisation du site &amp; mise en contenu</a:t>
            </a:r>
            <a:endParaRPr lang="en-US" sz="1450" dirty="0"/>
          </a:p>
        </p:txBody>
      </p:sp>
      <p:sp>
        <p:nvSpPr>
          <p:cNvPr id="22" name="Shape 14"/>
          <p:cNvSpPr/>
          <p:nvPr/>
        </p:nvSpPr>
        <p:spPr>
          <a:xfrm>
            <a:off x="6400800" y="2688336"/>
            <a:ext cx="384048" cy="384048"/>
          </a:xfrm>
          <a:prstGeom prst="ellipse">
            <a:avLst/>
          </a:prstGeom>
          <a:solidFill>
            <a:srgbClr val="EEF2F8"/>
          </a:solidFill>
          <a:ln/>
        </p:spPr>
      </p:sp>
      <p:pic>
        <p:nvPicPr>
          <p:cNvPr id="23" name="Image 6" descr="preencoded.png"/>
          <p:cNvPicPr>
            <a:picLocks noChangeAspect="1"/>
          </p:cNvPicPr>
          <p:nvPr/>
        </p:nvPicPr>
        <p:blipFill>
          <a:blip r:embed="rId4"/>
          <a:stretch>
            <a:fillRect/>
          </a:stretch>
        </p:blipFill>
        <p:spPr>
          <a:xfrm>
            <a:off x="6501384" y="2788920"/>
            <a:ext cx="182880" cy="182880"/>
          </a:xfrm>
          <a:prstGeom prst="rect">
            <a:avLst/>
          </a:prstGeom>
        </p:spPr>
      </p:pic>
      <p:sp>
        <p:nvSpPr>
          <p:cNvPr id="24" name="Text 15"/>
          <p:cNvSpPr/>
          <p:nvPr/>
        </p:nvSpPr>
        <p:spPr>
          <a:xfrm>
            <a:off x="6949440" y="2651760"/>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Fin de l'audit du système d'information</a:t>
            </a:r>
            <a:endParaRPr lang="en-US" sz="1450" dirty="0"/>
          </a:p>
        </p:txBody>
      </p:sp>
      <p:sp>
        <p:nvSpPr>
          <p:cNvPr id="25" name="Shape 16"/>
          <p:cNvSpPr/>
          <p:nvPr/>
        </p:nvSpPr>
        <p:spPr>
          <a:xfrm>
            <a:off x="6400800" y="3364992"/>
            <a:ext cx="384048" cy="384048"/>
          </a:xfrm>
          <a:prstGeom prst="ellipse">
            <a:avLst/>
          </a:prstGeom>
          <a:solidFill>
            <a:srgbClr val="EEF2F8"/>
          </a:solidFill>
          <a:ln/>
        </p:spPr>
      </p:sp>
      <p:pic>
        <p:nvPicPr>
          <p:cNvPr id="26" name="Image 7" descr="preencoded.png"/>
          <p:cNvPicPr>
            <a:picLocks noChangeAspect="1"/>
          </p:cNvPicPr>
          <p:nvPr/>
        </p:nvPicPr>
        <p:blipFill>
          <a:blip r:embed="rId4"/>
          <a:stretch>
            <a:fillRect/>
          </a:stretch>
        </p:blipFill>
        <p:spPr>
          <a:xfrm>
            <a:off x="6501384" y="3465576"/>
            <a:ext cx="182880" cy="182880"/>
          </a:xfrm>
          <a:prstGeom prst="rect">
            <a:avLst/>
          </a:prstGeom>
        </p:spPr>
      </p:pic>
      <p:sp>
        <p:nvSpPr>
          <p:cNvPr id="27" name="Text 17"/>
          <p:cNvSpPr/>
          <p:nvPr/>
        </p:nvSpPr>
        <p:spPr>
          <a:xfrm>
            <a:off x="6949440" y="3328416"/>
            <a:ext cx="4572000" cy="457200"/>
          </a:xfrm>
          <a:prstGeom prst="rect">
            <a:avLst/>
          </a:prstGeom>
          <a:noFill/>
          <a:ln/>
        </p:spPr>
        <p:txBody>
          <a:bodyPr wrap="square" lIns="0" tIns="0" rIns="0" bIns="0" rtlCol="0" anchor="ctr"/>
          <a:lstStyle/>
          <a:p>
            <a:pPr marL="0" indent="0">
              <a:buNone/>
            </a:pPr>
            <a:r>
              <a:rPr lang="en-US" sz="1450" dirty="0">
                <a:solidFill>
                  <a:srgbClr val="1F2A37"/>
                </a:solidFill>
                <a:latin typeface="Calibri" pitchFamily="34" charset="0"/>
                <a:ea typeface="Calibri" pitchFamily="34" charset="-122"/>
                <a:cs typeface="Calibri" pitchFamily="34" charset="-120"/>
              </a:rPr>
              <a:t>Poursuite de l'appui informatique</a:t>
            </a:r>
            <a:endParaRPr lang="en-US" sz="1450" dirty="0"/>
          </a:p>
        </p:txBody>
      </p:sp>
      <p:sp>
        <p:nvSpPr>
          <p:cNvPr id="28" name="Text 18"/>
          <p:cNvSpPr/>
          <p:nvPr/>
        </p:nvSpPr>
        <p:spPr>
          <a:xfrm>
            <a:off x="640080" y="5440680"/>
            <a:ext cx="2743200" cy="365760"/>
          </a:xfrm>
          <a:prstGeom prst="rect">
            <a:avLst/>
          </a:prstGeom>
          <a:noFill/>
          <a:ln/>
        </p:spPr>
        <p:txBody>
          <a:bodyPr wrap="square" lIns="0" tIns="0" rIns="0" bIns="0" rtlCol="0" anchor="ctr"/>
          <a:lstStyle/>
          <a:p>
            <a:pPr marL="0" indent="0">
              <a:buNone/>
            </a:pPr>
            <a:r>
              <a:rPr lang="en-US" sz="1300" b="1" dirty="0">
                <a:solidFill>
                  <a:srgbClr val="5B6776"/>
                </a:solidFill>
                <a:latin typeface="Calibri" pitchFamily="34" charset="0"/>
                <a:ea typeface="Calibri" pitchFamily="34" charset="-122"/>
                <a:cs typeface="Calibri" pitchFamily="34" charset="-120"/>
              </a:rPr>
              <a:t>Semaine 3 / 5</a:t>
            </a:r>
            <a:endParaRPr lang="en-US" sz="1300" dirty="0"/>
          </a:p>
        </p:txBody>
      </p:sp>
      <p:sp>
        <p:nvSpPr>
          <p:cNvPr id="29" name="Shape 19"/>
          <p:cNvSpPr/>
          <p:nvPr/>
        </p:nvSpPr>
        <p:spPr>
          <a:xfrm>
            <a:off x="685800" y="5852160"/>
            <a:ext cx="310896" cy="310896"/>
          </a:xfrm>
          <a:prstGeom prst="ellipse">
            <a:avLst/>
          </a:prstGeom>
          <a:solidFill>
            <a:srgbClr val="DCA828"/>
          </a:solidFill>
          <a:ln/>
        </p:spPr>
      </p:sp>
      <p:sp>
        <p:nvSpPr>
          <p:cNvPr id="30" name="Shape 20"/>
          <p:cNvSpPr/>
          <p:nvPr/>
        </p:nvSpPr>
        <p:spPr>
          <a:xfrm>
            <a:off x="996696" y="6007608"/>
            <a:ext cx="384048" cy="0"/>
          </a:xfrm>
          <a:prstGeom prst="line">
            <a:avLst/>
          </a:prstGeom>
          <a:noFill/>
          <a:ln w="31750">
            <a:solidFill>
              <a:srgbClr val="DCA828"/>
            </a:solidFill>
            <a:prstDash val="solid"/>
          </a:ln>
        </p:spPr>
      </p:sp>
      <p:sp>
        <p:nvSpPr>
          <p:cNvPr id="31" name="Shape 21"/>
          <p:cNvSpPr/>
          <p:nvPr/>
        </p:nvSpPr>
        <p:spPr>
          <a:xfrm>
            <a:off x="1380744" y="5852160"/>
            <a:ext cx="310896" cy="310896"/>
          </a:xfrm>
          <a:prstGeom prst="ellipse">
            <a:avLst/>
          </a:prstGeom>
          <a:solidFill>
            <a:srgbClr val="DCA828"/>
          </a:solidFill>
          <a:ln/>
        </p:spPr>
      </p:sp>
      <p:sp>
        <p:nvSpPr>
          <p:cNvPr id="32" name="Shape 22"/>
          <p:cNvSpPr/>
          <p:nvPr/>
        </p:nvSpPr>
        <p:spPr>
          <a:xfrm>
            <a:off x="1691640" y="6007608"/>
            <a:ext cx="384048" cy="0"/>
          </a:xfrm>
          <a:prstGeom prst="line">
            <a:avLst/>
          </a:prstGeom>
          <a:noFill/>
          <a:ln w="31750">
            <a:solidFill>
              <a:srgbClr val="DCA828"/>
            </a:solidFill>
            <a:prstDash val="solid"/>
          </a:ln>
        </p:spPr>
      </p:sp>
      <p:sp>
        <p:nvSpPr>
          <p:cNvPr id="33" name="Shape 23"/>
          <p:cNvSpPr/>
          <p:nvPr/>
        </p:nvSpPr>
        <p:spPr>
          <a:xfrm>
            <a:off x="2075688" y="5852160"/>
            <a:ext cx="310896" cy="310896"/>
          </a:xfrm>
          <a:prstGeom prst="ellipse">
            <a:avLst/>
          </a:prstGeom>
          <a:solidFill>
            <a:srgbClr val="DCA828"/>
          </a:solidFill>
          <a:ln/>
        </p:spPr>
      </p:sp>
      <p:sp>
        <p:nvSpPr>
          <p:cNvPr id="34" name="Shape 24"/>
          <p:cNvSpPr/>
          <p:nvPr/>
        </p:nvSpPr>
        <p:spPr>
          <a:xfrm>
            <a:off x="2386584" y="6007608"/>
            <a:ext cx="384048" cy="0"/>
          </a:xfrm>
          <a:prstGeom prst="line">
            <a:avLst/>
          </a:prstGeom>
          <a:noFill/>
          <a:ln w="31750">
            <a:solidFill>
              <a:srgbClr val="D5DCE6"/>
            </a:solidFill>
            <a:prstDash val="solid"/>
          </a:ln>
        </p:spPr>
      </p:sp>
      <p:sp>
        <p:nvSpPr>
          <p:cNvPr id="35" name="Shape 25"/>
          <p:cNvSpPr/>
          <p:nvPr/>
        </p:nvSpPr>
        <p:spPr>
          <a:xfrm>
            <a:off x="2770632" y="5852160"/>
            <a:ext cx="310896" cy="310896"/>
          </a:xfrm>
          <a:prstGeom prst="ellipse">
            <a:avLst/>
          </a:prstGeom>
          <a:solidFill>
            <a:srgbClr val="EEF2F8"/>
          </a:solidFill>
          <a:ln/>
        </p:spPr>
      </p:sp>
      <p:sp>
        <p:nvSpPr>
          <p:cNvPr id="36" name="Shape 26"/>
          <p:cNvSpPr/>
          <p:nvPr/>
        </p:nvSpPr>
        <p:spPr>
          <a:xfrm>
            <a:off x="3081528" y="6007608"/>
            <a:ext cx="384048" cy="0"/>
          </a:xfrm>
          <a:prstGeom prst="line">
            <a:avLst/>
          </a:prstGeom>
          <a:noFill/>
          <a:ln w="31750">
            <a:solidFill>
              <a:srgbClr val="D5DCE6"/>
            </a:solidFill>
            <a:prstDash val="solid"/>
          </a:ln>
        </p:spPr>
      </p:sp>
      <p:sp>
        <p:nvSpPr>
          <p:cNvPr id="37" name="Shape 27"/>
          <p:cNvSpPr/>
          <p:nvPr/>
        </p:nvSpPr>
        <p:spPr>
          <a:xfrm>
            <a:off x="3465576" y="5852160"/>
            <a:ext cx="310896" cy="310896"/>
          </a:xfrm>
          <a:prstGeom prst="ellipse">
            <a:avLst/>
          </a:prstGeom>
          <a:solidFill>
            <a:srgbClr val="EEF2F8"/>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43258"/>
        </a:solidFill>
        <a:effectLst/>
      </p:bgPr>
    </p:bg>
    <p:spTree>
      <p:nvGrpSpPr>
        <p:cNvPr id="1" name=""/>
        <p:cNvGrpSpPr/>
        <p:nvPr/>
      </p:nvGrpSpPr>
      <p:grpSpPr>
        <a:xfrm>
          <a:off x="0" y="0"/>
          <a:ext cx="0" cy="0"/>
          <a:chOff x="0" y="0"/>
          <a:chExt cx="0" cy="0"/>
        </a:xfrm>
      </p:grpSpPr>
      <p:sp>
        <p:nvSpPr>
          <p:cNvPr id="2" name="Shape 0"/>
          <p:cNvSpPr/>
          <p:nvPr/>
        </p:nvSpPr>
        <p:spPr>
          <a:xfrm>
            <a:off x="868680" y="822960"/>
            <a:ext cx="868680" cy="868680"/>
          </a:xfrm>
          <a:prstGeom prst="ellipse">
            <a:avLst/>
          </a:prstGeom>
          <a:solidFill>
            <a:srgbClr val="1E3A63"/>
          </a:solidFill>
          <a:ln/>
        </p:spPr>
      </p:sp>
      <p:pic>
        <p:nvPicPr>
          <p:cNvPr id="3" name="Image 0" descr="preencoded.png"/>
          <p:cNvPicPr>
            <a:picLocks noChangeAspect="1"/>
          </p:cNvPicPr>
          <p:nvPr/>
        </p:nvPicPr>
        <p:blipFill>
          <a:blip r:embed="rId3"/>
          <a:stretch>
            <a:fillRect/>
          </a:stretch>
        </p:blipFill>
        <p:spPr>
          <a:xfrm>
            <a:off x="1097280" y="1051560"/>
            <a:ext cx="411480" cy="411480"/>
          </a:xfrm>
          <a:prstGeom prst="rect">
            <a:avLst/>
          </a:prstGeom>
        </p:spPr>
      </p:pic>
      <p:sp>
        <p:nvSpPr>
          <p:cNvPr id="4" name="Text 1"/>
          <p:cNvSpPr/>
          <p:nvPr/>
        </p:nvSpPr>
        <p:spPr>
          <a:xfrm>
            <a:off x="868680" y="1874520"/>
            <a:ext cx="100584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Ce que je retiens</a:t>
            </a:r>
            <a:endParaRPr lang="en-US" sz="2600" dirty="0"/>
          </a:p>
        </p:txBody>
      </p:sp>
      <p:sp>
        <p:nvSpPr>
          <p:cNvPr id="5" name="Text 2"/>
          <p:cNvSpPr/>
          <p:nvPr/>
        </p:nvSpPr>
        <p:spPr>
          <a:xfrm>
            <a:off x="914400" y="2560320"/>
            <a:ext cx="10058400" cy="1554480"/>
          </a:xfrm>
          <a:prstGeom prst="rect">
            <a:avLst/>
          </a:prstGeom>
          <a:noFill/>
          <a:ln/>
        </p:spPr>
        <p:txBody>
          <a:bodyPr wrap="square" lIns="0" tIns="0" rIns="0" bIns="0" rtlCol="0" anchor="ctr"/>
          <a:lstStyle/>
          <a:p>
            <a:pPr marL="228600" indent="-228600">
              <a:buSzPct val="100000"/>
              <a:buChar char="•"/>
            </a:pPr>
            <a:r>
              <a:rPr lang="en-US" sz="1600" dirty="0">
                <a:solidFill>
                  <a:srgbClr val="AEC4E0"/>
                </a:solidFill>
                <a:latin typeface="Calibri" pitchFamily="34" charset="0"/>
                <a:ea typeface="Calibri" pitchFamily="34" charset="-122"/>
                <a:cs typeface="Calibri" pitchFamily="34" charset="-120"/>
              </a:rPr>
              <a:t>Un premier projet mené en conditions réelles, du besoin à la mise en ligne.</a:t>
            </a:r>
            <a:endParaRPr lang="en-US" sz="1600" dirty="0"/>
          </a:p>
          <a:p>
            <a:pPr marL="228600" indent="-228600">
              <a:spcBef>
                <a:spcPts val="800"/>
              </a:spcBef>
              <a:buSzPct val="100000"/>
              <a:buChar char="•"/>
            </a:pPr>
            <a:r>
              <a:rPr lang="en-US" sz="1600" dirty="0">
                <a:solidFill>
                  <a:srgbClr val="AEC4E0"/>
                </a:solidFill>
                <a:latin typeface="Calibri" pitchFamily="34" charset="0"/>
                <a:ea typeface="Calibri" pitchFamily="34" charset="-122"/>
                <a:cs typeface="Calibri" pitchFamily="34" charset="-120"/>
              </a:rPr>
              <a:t>De l'autonomie et de la polyvalence, du code au support utilisateur.</a:t>
            </a:r>
            <a:endParaRPr lang="en-US" sz="1600" dirty="0"/>
          </a:p>
          <a:p>
            <a:pPr marL="228600" indent="-228600">
              <a:spcBef>
                <a:spcPts val="800"/>
              </a:spcBef>
              <a:buSzPct val="100000"/>
              <a:buChar char="•"/>
            </a:pPr>
            <a:r>
              <a:rPr lang="en-US" sz="1600" dirty="0">
                <a:solidFill>
                  <a:srgbClr val="AEC4E0"/>
                </a:solidFill>
                <a:latin typeface="Calibri" pitchFamily="34" charset="0"/>
                <a:ea typeface="Calibri" pitchFamily="34" charset="-122"/>
                <a:cs typeface="Calibri" pitchFamily="34" charset="-120"/>
              </a:rPr>
              <a:t>Le lien concret entre l'informatique et un service public de proximité.</a:t>
            </a:r>
            <a:endParaRPr lang="en-US" sz="1600" dirty="0"/>
          </a:p>
        </p:txBody>
      </p:sp>
      <p:sp>
        <p:nvSpPr>
          <p:cNvPr id="6" name="Text 3"/>
          <p:cNvSpPr/>
          <p:nvPr/>
        </p:nvSpPr>
        <p:spPr>
          <a:xfrm>
            <a:off x="868680" y="4617720"/>
            <a:ext cx="10424160" cy="731520"/>
          </a:xfrm>
          <a:prstGeom prst="rect">
            <a:avLst/>
          </a:prstGeom>
          <a:noFill/>
          <a:ln/>
        </p:spPr>
        <p:txBody>
          <a:bodyPr wrap="square" lIns="0" tIns="0" rIns="0" bIns="0" rtlCol="0" anchor="ctr"/>
          <a:lstStyle/>
          <a:p>
            <a:pPr marL="0" indent="0">
              <a:buNone/>
            </a:pPr>
            <a:r>
              <a:rPr lang="en-US" sz="3400" b="1" dirty="0">
                <a:solidFill>
                  <a:srgbClr val="DCA828"/>
                </a:solidFill>
                <a:latin typeface="Calibri" pitchFamily="34" charset="0"/>
                <a:ea typeface="Calibri" pitchFamily="34" charset="-122"/>
                <a:cs typeface="Calibri" pitchFamily="34" charset="-120"/>
              </a:rPr>
              <a:t>Merci de votre attention</a:t>
            </a:r>
            <a:endParaRPr lang="en-US" sz="3400" dirty="0"/>
          </a:p>
        </p:txBody>
      </p:sp>
      <p:sp>
        <p:nvSpPr>
          <p:cNvPr id="7" name="Text 4"/>
          <p:cNvSpPr/>
          <p:nvPr/>
        </p:nvSpPr>
        <p:spPr>
          <a:xfrm>
            <a:off x="886968" y="5440680"/>
            <a:ext cx="10058400" cy="457200"/>
          </a:xfrm>
          <a:prstGeom prst="rect">
            <a:avLst/>
          </a:prstGeom>
          <a:noFill/>
          <a:ln/>
        </p:spPr>
        <p:txBody>
          <a:bodyPr wrap="square" lIns="0" tIns="0" rIns="0" bIns="0" rtlCol="0" anchor="ctr"/>
          <a:lstStyle/>
          <a:p>
            <a:pPr marL="0" indent="0">
              <a:buNone/>
            </a:pPr>
            <a:r>
              <a:rPr lang="en-US" sz="1800" dirty="0">
                <a:solidFill>
                  <a:srgbClr val="AEC4E0"/>
                </a:solidFill>
                <a:latin typeface="Calibri" pitchFamily="34" charset="0"/>
                <a:ea typeface="Calibri" pitchFamily="34" charset="-122"/>
                <a:cs typeface="Calibri" pitchFamily="34" charset="-120"/>
              </a:rPr>
              <a:t>Des questions ?</a:t>
            </a:r>
            <a:endParaRPr lang="en-US" sz="1800" dirty="0"/>
          </a:p>
        </p:txBody>
      </p:sp>
      <p:sp>
        <p:nvSpPr>
          <p:cNvPr id="8" name="Text 5"/>
          <p:cNvSpPr/>
          <p:nvPr/>
        </p:nvSpPr>
        <p:spPr>
          <a:xfrm>
            <a:off x="886968" y="6263640"/>
            <a:ext cx="10058400" cy="365760"/>
          </a:xfrm>
          <a:prstGeom prst="rect">
            <a:avLst/>
          </a:prstGeom>
          <a:noFill/>
          <a:ln/>
        </p:spPr>
        <p:txBody>
          <a:bodyPr wrap="square" lIns="0" tIns="0" rIns="0" bIns="0" rtlCol="0" anchor="ctr"/>
          <a:lstStyle/>
          <a:p>
            <a:pPr marL="0" indent="0">
              <a:buNone/>
            </a:pPr>
            <a:r>
              <a:rPr lang="en-US" sz="1200" dirty="0">
                <a:solidFill>
                  <a:srgbClr val="7E93B5"/>
                </a:solidFill>
                <a:latin typeface="Calibri" pitchFamily="34" charset="0"/>
                <a:ea typeface="Calibri" pitchFamily="34" charset="-122"/>
                <a:cs typeface="Calibri" pitchFamily="34" charset="-120"/>
              </a:rPr>
              <a:t>Maël DAVIDENKO   ·   Mairie de Douvres   ·   juin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1061</Words>
  <Application>Microsoft Office PowerPoint</Application>
  <PresentationFormat>Grand écran</PresentationFormat>
  <Paragraphs>76</Paragraphs>
  <Slides>9</Slides>
  <Notes>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Bilan de mi-stage - Mairie de Douvres</dc:title>
  <dc:subject>PptxGenJS Presentation</dc:subject>
  <dc:creator>Maël Davidenko</dc:creator>
  <cp:lastModifiedBy>Mael Davidenko</cp:lastModifiedBy>
  <cp:revision>14</cp:revision>
  <dcterms:created xsi:type="dcterms:W3CDTF">2026-06-19T12:14:26Z</dcterms:created>
  <dcterms:modified xsi:type="dcterms:W3CDTF">2026-06-19T13:27:41Z</dcterms:modified>
</cp:coreProperties>
</file>