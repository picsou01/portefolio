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3" autoAdjust="0"/>
    <p:restoredTop sz="96236" autoAdjust="0"/>
  </p:normalViewPr>
  <p:slideViewPr>
    <p:cSldViewPr snapToGrid="0" snapToObjects="1">
      <p:cViewPr varScale="1">
        <p:scale>
          <a:sx n="106" d="100"/>
          <a:sy n="106" d="100"/>
        </p:scale>
        <p:origin x="204" y="72"/>
      </p:cViewPr>
      <p:guideLst/>
    </p:cSldViewPr>
  </p:slideViewPr>
  <p:outlineViewPr>
    <p:cViewPr>
      <p:scale>
        <a:sx n="33" d="100"/>
        <a:sy n="33" d="100"/>
      </p:scale>
      <p:origin x="0" y="0"/>
    </p:cViewPr>
  </p:outlineViewPr>
  <p:notesTextViewPr>
    <p:cViewPr>
      <p:scale>
        <a:sx n="3" d="2"/>
        <a:sy n="3" d="2"/>
      </p:scale>
      <p:origin x="0" y="0"/>
    </p:cViewPr>
  </p:notesTextViewPr>
  <p:notesViewPr>
    <p:cSldViewPr snapToGrid="0" snapToObjects="1">
      <p:cViewPr varScale="1">
        <p:scale>
          <a:sx n="63" d="100"/>
          <a:sy n="63" d="100"/>
        </p:scale>
        <p:origin x="3720" y="5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415112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Je vais vous présenter la production de mon stage à la Mairie de Douvres, mon village. En une phrase, ma mission : la refonte du site internet de la commune et l'appui informatique aux services de la mairie. (20 </a:t>
            </a:r>
            <a:r>
              <a:rPr lang="en-US" dirty="0" err="1"/>
              <a:t>secondes</a:t>
            </a:r>
            <a:r>
              <a:rPr lang="en-US" dirty="0"/>
              <a:t>)</a:t>
            </a:r>
            <a:br>
              <a:rPr lang="en-US" dirty="0"/>
            </a:br>
            <a:br>
              <a:rPr lang="en-US" dirty="0"/>
            </a:br>
            <a:r>
              <a:rPr lang="en-US" dirty="0"/>
              <a:t>A</a:t>
            </a:r>
            <a:r>
              <a:rPr lang="en-US" baseline="0" dirty="0"/>
              <a:t> </a:t>
            </a:r>
            <a:r>
              <a:rPr lang="en-US" baseline="0" dirty="0" err="1"/>
              <a:t>l’origine</a:t>
            </a:r>
            <a:r>
              <a:rPr lang="en-US" baseline="0" dirty="0"/>
              <a:t> de </a:t>
            </a:r>
            <a:r>
              <a:rPr lang="en-US" baseline="0" dirty="0" err="1"/>
              <a:t>toute</a:t>
            </a:r>
            <a:r>
              <a:rPr lang="en-US" baseline="0" dirty="0"/>
              <a:t> </a:t>
            </a:r>
            <a:r>
              <a:rPr lang="en-US" baseline="0" dirty="0" err="1"/>
              <a:t>connaissance</a:t>
            </a:r>
            <a:r>
              <a:rPr lang="en-US" baseline="0" dirty="0"/>
              <a:t>, nous </a:t>
            </a:r>
            <a:r>
              <a:rPr lang="en-US" baseline="0" dirty="0" err="1"/>
              <a:t>retrouvons</a:t>
            </a:r>
            <a:r>
              <a:rPr lang="en-US" baseline="0" dirty="0"/>
              <a:t> la </a:t>
            </a:r>
            <a:r>
              <a:rPr lang="en-US" baseline="0" dirty="0" err="1"/>
              <a:t>curiosité</a:t>
            </a:r>
            <a:r>
              <a:rPr lang="en-US" baseline="0" dirty="0"/>
              <a:t>. Elle </a:t>
            </a:r>
            <a:r>
              <a:rPr lang="en-US" baseline="0" dirty="0" err="1"/>
              <a:t>est</a:t>
            </a:r>
            <a:r>
              <a:rPr lang="en-US" baseline="0" dirty="0"/>
              <a:t> </a:t>
            </a:r>
            <a:r>
              <a:rPr lang="en-US" baseline="0" dirty="0" err="1"/>
              <a:t>une</a:t>
            </a:r>
            <a:r>
              <a:rPr lang="en-US" baseline="0" dirty="0"/>
              <a:t> condition essential du progress.</a:t>
            </a:r>
            <a:br>
              <a:rPr lang="en-US" baseline="0" dirty="0"/>
            </a:br>
            <a:br>
              <a:rPr lang="en-US" baseline="0" dirty="0"/>
            </a:br>
            <a:r>
              <a:rPr lang="en-US" baseline="0" dirty="0" err="1"/>
              <a:t>Alexxandra</a:t>
            </a:r>
            <a:r>
              <a:rPr lang="en-US" baseline="0" dirty="0"/>
              <a:t> David-Neel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Rappel rapide du contexte : Douvres, 1 100 habitants, aucun informaticien. Trois axes : le site, l'appui au quotidien, et l'audit. Aujourd'hui, je vous montre ce que j'ai livré. (35 secondes)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 production centrale. Un thème enfant WordPress : j'hérite du thème officiel, mes modifications ne sont jamais écrasées par les mises à jour. Full Site Editing : la mairie modifie tout sans code. J'ai développé en local avec Docker, sans toucher au site en ligne. Et la première version fonctionnelle a été livrée le 2 juillet. (60 secondes)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Quatre fonctionnalités livrées. Les actualités : la secrétaire de mairie publie seule, sans moi. L'agenda : automatique, les événements apparaissent et disparaissent selon leur date. Les galeries en pleine largeur. Et une navigation pensée pour tous les habitants. Le fil rouge : un site qui vit sans informaticien. (55 secondes)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moment le plus important du stage. Le design de départ était un compromis entre moderne et ancien, et j'avais prévenu qu'il ne satisferait personne. Vous le voyez ici, c'est la V1. Le 18 juin, en réunion de communication, j'ai demandé une décision claire : elle a été prise, tout reprendre à zéro. Nouvelle méthode : d'abord des modèles, validés par le maire le 26, puis par le comité le 30, et seulement ensuite le développement. Résultat : une V1 fonctionnelle du nouveau site livrée le 2 juillet. La leçon que je garde : faire valider les modèles avant de développer. (70 secondes)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site n'est pas le seul livrable. L'audit : 23 000 euros de contrats analysés ligne par ligne, environ 13 500 euros d'économies identifiées, un rapport validé par le maire. Les signatures électroniques, déployées partout. Deux documentations, technique et utilisateur, avec un tutoriel présenté au personnel. Et une étude sur l'IA en mairie, où la confidentialité des données a guidé la solution retenue. (55 secondes)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 maintenant ? Le maire m'a demandé de rester deux semaines de plus pour la mise en service, et j'ai accepté. Quatre étapes que j'ai préparées : la sauvegarde complète de l'ancien site, la migration de vingt ans de contenu, la bascule du nom de domaine, et la formation du personnel. Comme je l'écris dans mon rapport : je ne pars pas en laissant des promesses, je reste pour les tenir. (50 secondes)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que je retiens : j'ai appris à écouter et à traduire l'informatique pour ceux qui ne la parlent pas. J'ai appris qu'alerter ne suffit pas, qu'il faut savoir demander une décision. Et j'ai vécu un projet réel, du besoin jusqu'à la mise en service. Merci de votre attention, je suis prêt à répondre à vos questions. (30 secondes)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jp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68680" y="1828800"/>
            <a:ext cx="4380890" cy="329184"/>
          </a:xfrm>
          <a:prstGeom prst="roundRect">
            <a:avLst>
              <a:gd name="adj" fmla="val 50000"/>
            </a:avLst>
          </a:prstGeom>
          <a:solidFill>
            <a:srgbClr val="0B132B"/>
          </a:solidFill>
          <a:ln/>
          <a:effectLst>
            <a:outerShdw blurRad="203200" dist="63500" dir="5400000" algn="bl" rotWithShape="0">
              <a:srgbClr val="0B132B">
                <a:alpha val="10000"/>
              </a:srgbClr>
            </a:outerShdw>
          </a:effectLst>
        </p:spPr>
      </p:sp>
      <p:sp>
        <p:nvSpPr>
          <p:cNvPr id="3" name="Text 1"/>
          <p:cNvSpPr/>
          <p:nvPr/>
        </p:nvSpPr>
        <p:spPr>
          <a:xfrm>
            <a:off x="868680" y="1828800"/>
            <a:ext cx="4380890" cy="329184"/>
          </a:xfrm>
          <a:prstGeom prst="rect">
            <a:avLst/>
          </a:prstGeom>
          <a:noFill/>
          <a:ln/>
        </p:spPr>
        <p:txBody>
          <a:bodyPr wrap="square" lIns="0" tIns="0" rIns="0" bIns="0" rtlCol="0" anchor="ctr"/>
          <a:lstStyle/>
          <a:p>
            <a:pPr marL="0" indent="0" algn="ctr">
              <a:buNone/>
            </a:pPr>
            <a:r>
              <a:rPr lang="en-US" sz="1050" b="1" kern="0" spc="200" dirty="0">
                <a:solidFill>
                  <a:srgbClr val="FFFFFF"/>
                </a:solidFill>
                <a:latin typeface="Calibri" pitchFamily="34" charset="0"/>
                <a:ea typeface="Calibri" pitchFamily="34" charset="-122"/>
                <a:cs typeface="Calibri" pitchFamily="34" charset="-120"/>
              </a:rPr>
              <a:t>BTS SIO  ·  OPTION SLAM  ·  SOUTENANCE DE STAGE</a:t>
            </a:r>
            <a:endParaRPr lang="en-US" sz="1050" dirty="0"/>
          </a:p>
        </p:txBody>
      </p:sp>
      <p:sp>
        <p:nvSpPr>
          <p:cNvPr id="4" name="Text 2"/>
          <p:cNvSpPr/>
          <p:nvPr/>
        </p:nvSpPr>
        <p:spPr>
          <a:xfrm>
            <a:off x="804672" y="2331720"/>
            <a:ext cx="10881360" cy="1188720"/>
          </a:xfrm>
          <a:prstGeom prst="rect">
            <a:avLst/>
          </a:prstGeom>
          <a:noFill/>
          <a:ln/>
        </p:spPr>
        <p:txBody>
          <a:bodyPr wrap="square" lIns="0" tIns="0" rIns="0" bIns="0" rtlCol="0" anchor="ctr"/>
          <a:lstStyle/>
          <a:p>
            <a:pPr marL="0" indent="0">
              <a:buNone/>
            </a:pPr>
            <a:r>
              <a:rPr lang="en-US" sz="4700" b="1" i="1" dirty="0">
                <a:solidFill>
                  <a:srgbClr val="0B132B"/>
                </a:solidFill>
                <a:latin typeface="Georgia" pitchFamily="34" charset="0"/>
                <a:ea typeface="Georgia" pitchFamily="34" charset="-122"/>
                <a:cs typeface="Georgia" pitchFamily="34" charset="-120"/>
              </a:rPr>
              <a:t>Un site pour mon village</a:t>
            </a:r>
            <a:endParaRPr lang="en-US" sz="4700" dirty="0"/>
          </a:p>
        </p:txBody>
      </p:sp>
      <p:sp>
        <p:nvSpPr>
          <p:cNvPr id="5" name="Text 3"/>
          <p:cNvSpPr/>
          <p:nvPr/>
        </p:nvSpPr>
        <p:spPr>
          <a:xfrm>
            <a:off x="868680" y="3611880"/>
            <a:ext cx="9509760" cy="822960"/>
          </a:xfrm>
          <a:prstGeom prst="rect">
            <a:avLst/>
          </a:prstGeom>
          <a:noFill/>
          <a:ln/>
        </p:spPr>
        <p:txBody>
          <a:bodyPr wrap="square" lIns="0" tIns="0" rIns="0" bIns="0" rtlCol="0" anchor="ctr"/>
          <a:lstStyle/>
          <a:p>
            <a:pPr marL="0" indent="0">
              <a:buNone/>
            </a:pPr>
            <a:r>
              <a:rPr lang="en-US" sz="1700" dirty="0">
                <a:solidFill>
                  <a:srgbClr val="475569"/>
                </a:solidFill>
                <a:latin typeface="Calibri" pitchFamily="34" charset="0"/>
                <a:ea typeface="Calibri" pitchFamily="34" charset="-122"/>
                <a:cs typeface="Calibri" pitchFamily="34" charset="-120"/>
              </a:rPr>
              <a:t>Refonte du site internet de la commune de Douvres et appui informatique aux services de la mairie</a:t>
            </a:r>
            <a:endParaRPr lang="en-US" sz="1700" dirty="0"/>
          </a:p>
        </p:txBody>
      </p:sp>
      <p:sp>
        <p:nvSpPr>
          <p:cNvPr id="6" name="Text 4"/>
          <p:cNvSpPr/>
          <p:nvPr/>
        </p:nvSpPr>
        <p:spPr>
          <a:xfrm>
            <a:off x="868680" y="5852160"/>
            <a:ext cx="10515600" cy="457200"/>
          </a:xfrm>
          <a:prstGeom prst="rect">
            <a:avLst/>
          </a:prstGeom>
          <a:noFill/>
          <a:ln/>
        </p:spPr>
        <p:txBody>
          <a:bodyPr wrap="square" lIns="0" tIns="0" rIns="0" bIns="0" rtlCol="0" anchor="ctr"/>
          <a:lstStyle/>
          <a:p>
            <a:pPr marL="0" indent="0">
              <a:buNone/>
            </a:pPr>
            <a:r>
              <a:rPr lang="en-US" sz="1500" b="1" dirty="0">
                <a:solidFill>
                  <a:srgbClr val="0B132B"/>
                </a:solidFill>
                <a:latin typeface="Calibri" pitchFamily="34" charset="0"/>
                <a:ea typeface="Calibri" pitchFamily="34" charset="-122"/>
                <a:cs typeface="Calibri" pitchFamily="34" charset="-120"/>
              </a:rPr>
              <a:t>Maël DAVIDENKO</a:t>
            </a:r>
            <a:r>
              <a:rPr lang="en-US" sz="1350" dirty="0">
                <a:solidFill>
                  <a:srgbClr val="475569"/>
                </a:solidFill>
                <a:latin typeface="Calibri" pitchFamily="34" charset="0"/>
                <a:ea typeface="Calibri" pitchFamily="34" charset="-122"/>
                <a:cs typeface="Calibri" pitchFamily="34" charset="-120"/>
              </a:rPr>
              <a:t>      Mairie de Douvres (01500)      juin - juillet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85800" y="411480"/>
            <a:ext cx="1319479" cy="329184"/>
          </a:xfrm>
          <a:prstGeom prst="roundRect">
            <a:avLst>
              <a:gd name="adj" fmla="val 50000"/>
            </a:avLst>
          </a:prstGeom>
          <a:solidFill>
            <a:srgbClr val="0B132B"/>
          </a:solidFill>
          <a:ln/>
          <a:effectLst>
            <a:outerShdw blurRad="203200" dist="63500" dir="5400000" algn="bl" rotWithShape="0">
              <a:srgbClr val="0B132B">
                <a:alpha val="10000"/>
              </a:srgbClr>
            </a:outerShdw>
          </a:effectLst>
        </p:spPr>
      </p:sp>
      <p:sp>
        <p:nvSpPr>
          <p:cNvPr id="3" name="Text 1"/>
          <p:cNvSpPr/>
          <p:nvPr/>
        </p:nvSpPr>
        <p:spPr>
          <a:xfrm>
            <a:off x="685800" y="411480"/>
            <a:ext cx="1319479" cy="329184"/>
          </a:xfrm>
          <a:prstGeom prst="rect">
            <a:avLst/>
          </a:prstGeom>
          <a:noFill/>
          <a:ln/>
        </p:spPr>
        <p:txBody>
          <a:bodyPr wrap="square" lIns="0" tIns="0" rIns="0" bIns="0" rtlCol="0" anchor="ctr"/>
          <a:lstStyle/>
          <a:p>
            <a:pPr marL="0" indent="0" algn="ctr">
              <a:buNone/>
            </a:pPr>
            <a:r>
              <a:rPr lang="en-US" sz="1050" b="1" kern="0" spc="200" dirty="0">
                <a:solidFill>
                  <a:srgbClr val="FFFFFF"/>
                </a:solidFill>
                <a:latin typeface="Calibri" pitchFamily="34" charset="0"/>
                <a:ea typeface="Calibri" pitchFamily="34" charset="-122"/>
                <a:cs typeface="Calibri" pitchFamily="34" charset="-120"/>
              </a:rPr>
              <a:t>LE CONTEXTE</a:t>
            </a:r>
            <a:endParaRPr lang="en-US" sz="1050" dirty="0"/>
          </a:p>
        </p:txBody>
      </p:sp>
      <p:sp>
        <p:nvSpPr>
          <p:cNvPr id="4" name="Text 2"/>
          <p:cNvSpPr/>
          <p:nvPr/>
        </p:nvSpPr>
        <p:spPr>
          <a:xfrm>
            <a:off x="658368" y="786384"/>
            <a:ext cx="10881360" cy="713232"/>
          </a:xfrm>
          <a:prstGeom prst="rect">
            <a:avLst/>
          </a:prstGeom>
          <a:noFill/>
          <a:ln/>
        </p:spPr>
        <p:txBody>
          <a:bodyPr wrap="square" lIns="0" tIns="0" rIns="0" bIns="0" rtlCol="0" anchor="ctr"/>
          <a:lstStyle/>
          <a:p>
            <a:pPr marL="0" indent="0">
              <a:buNone/>
            </a:pPr>
            <a:r>
              <a:rPr lang="en-US" sz="3000" b="1" i="1" dirty="0">
                <a:solidFill>
                  <a:srgbClr val="0B132B"/>
                </a:solidFill>
                <a:latin typeface="Georgia" pitchFamily="34" charset="0"/>
                <a:ea typeface="Georgia" pitchFamily="34" charset="-122"/>
                <a:cs typeface="Georgia" pitchFamily="34" charset="-120"/>
              </a:rPr>
              <a:t>La mission, en une phrase</a:t>
            </a:r>
            <a:endParaRPr lang="en-US" sz="3000" dirty="0"/>
          </a:p>
        </p:txBody>
      </p:sp>
      <p:sp>
        <p:nvSpPr>
          <p:cNvPr id="5" name="Shape 3"/>
          <p:cNvSpPr/>
          <p:nvPr/>
        </p:nvSpPr>
        <p:spPr>
          <a:xfrm>
            <a:off x="685800" y="1737360"/>
            <a:ext cx="6309360" cy="1005840"/>
          </a:xfrm>
          <a:prstGeom prst="roundRect">
            <a:avLst>
              <a:gd name="adj" fmla="val 9091"/>
            </a:avLst>
          </a:prstGeom>
          <a:solidFill>
            <a:srgbClr val="FFFFFF"/>
          </a:solidFill>
          <a:ln w="12700">
            <a:solidFill>
              <a:srgbClr val="E4E8F0"/>
            </a:solidFill>
            <a:prstDash val="solid"/>
          </a:ln>
          <a:effectLst>
            <a:outerShdw blurRad="203200" dist="63500" dir="5400000" algn="bl" rotWithShape="0">
              <a:srgbClr val="0B132B">
                <a:alpha val="10000"/>
              </a:srgbClr>
            </a:outerShdw>
          </a:effectLst>
        </p:spPr>
      </p:sp>
      <p:sp>
        <p:nvSpPr>
          <p:cNvPr id="6" name="Text 4"/>
          <p:cNvSpPr/>
          <p:nvPr/>
        </p:nvSpPr>
        <p:spPr>
          <a:xfrm>
            <a:off x="960120" y="1737360"/>
            <a:ext cx="5806440" cy="1005840"/>
          </a:xfrm>
          <a:prstGeom prst="rect">
            <a:avLst/>
          </a:prstGeom>
          <a:noFill/>
          <a:ln/>
        </p:spPr>
        <p:txBody>
          <a:bodyPr wrap="square" lIns="0" tIns="0" rIns="0" bIns="0" rtlCol="0" anchor="ctr"/>
          <a:lstStyle/>
          <a:p>
            <a:pPr marL="0" indent="0">
              <a:buNone/>
            </a:pPr>
            <a:r>
              <a:rPr lang="en-US" sz="1450" b="1" i="1" dirty="0">
                <a:solidFill>
                  <a:srgbClr val="0B132B"/>
                </a:solidFill>
                <a:latin typeface="Georgia" pitchFamily="34" charset="0"/>
                <a:ea typeface="Georgia" pitchFamily="34" charset="-122"/>
                <a:cs typeface="Georgia" pitchFamily="34" charset="-120"/>
              </a:rPr>
              <a:t>« Refonte du site internet de la commune et appui informatique aux services de la mairie. »</a:t>
            </a:r>
            <a:endParaRPr lang="en-US" sz="1450" dirty="0"/>
          </a:p>
        </p:txBody>
      </p:sp>
      <p:sp>
        <p:nvSpPr>
          <p:cNvPr id="7" name="Shape 5"/>
          <p:cNvSpPr/>
          <p:nvPr/>
        </p:nvSpPr>
        <p:spPr>
          <a:xfrm>
            <a:off x="685800" y="2971800"/>
            <a:ext cx="6309360" cy="914400"/>
          </a:xfrm>
          <a:prstGeom prst="roundRect">
            <a:avLst>
              <a:gd name="adj" fmla="val 10000"/>
            </a:avLst>
          </a:prstGeom>
          <a:solidFill>
            <a:srgbClr val="FFFFFF"/>
          </a:solidFill>
          <a:ln w="12700">
            <a:solidFill>
              <a:srgbClr val="E4E8F0"/>
            </a:solidFill>
            <a:prstDash val="solid"/>
          </a:ln>
          <a:effectLst>
            <a:outerShdw blurRad="203200" dist="63500" dir="5400000" algn="bl" rotWithShape="0">
              <a:srgbClr val="0B132B">
                <a:alpha val="10000"/>
              </a:srgbClr>
            </a:outerShdw>
          </a:effectLst>
        </p:spPr>
      </p:sp>
      <p:sp>
        <p:nvSpPr>
          <p:cNvPr id="8" name="Text 6"/>
          <p:cNvSpPr/>
          <p:nvPr/>
        </p:nvSpPr>
        <p:spPr>
          <a:xfrm>
            <a:off x="978408" y="3063240"/>
            <a:ext cx="5760720" cy="384048"/>
          </a:xfrm>
          <a:prstGeom prst="rect">
            <a:avLst/>
          </a:prstGeom>
          <a:noFill/>
          <a:ln/>
        </p:spPr>
        <p:txBody>
          <a:bodyPr wrap="square" lIns="0" tIns="0" rIns="0" bIns="0" rtlCol="0" anchor="ctr"/>
          <a:lstStyle/>
          <a:p>
            <a:pPr marL="0" indent="0">
              <a:buNone/>
            </a:pPr>
            <a:r>
              <a:rPr lang="en-US" sz="1500" b="1" dirty="0">
                <a:solidFill>
                  <a:srgbClr val="0B132B"/>
                </a:solidFill>
                <a:latin typeface="Calibri" pitchFamily="34" charset="0"/>
                <a:ea typeface="Calibri" pitchFamily="34" charset="-122"/>
                <a:cs typeface="Calibri" pitchFamily="34" charset="-120"/>
              </a:rPr>
              <a:t>Le site internet</a:t>
            </a:r>
            <a:endParaRPr lang="en-US" sz="1500" dirty="0"/>
          </a:p>
        </p:txBody>
      </p:sp>
      <p:sp>
        <p:nvSpPr>
          <p:cNvPr id="9" name="Text 7"/>
          <p:cNvSpPr/>
          <p:nvPr/>
        </p:nvSpPr>
        <p:spPr>
          <a:xfrm>
            <a:off x="978408" y="3447288"/>
            <a:ext cx="5760720" cy="347472"/>
          </a:xfrm>
          <a:prstGeom prst="rect">
            <a:avLst/>
          </a:prstGeom>
          <a:noFill/>
          <a:ln/>
        </p:spPr>
        <p:txBody>
          <a:bodyPr wrap="square" lIns="0" tIns="0" rIns="0" bIns="0" rtlCol="0" anchor="t"/>
          <a:lstStyle/>
          <a:p>
            <a:pPr marL="0" indent="0">
              <a:lnSpc>
                <a:spcPct val="105000"/>
              </a:lnSpc>
              <a:buNone/>
            </a:pPr>
            <a:r>
              <a:rPr lang="en-US" sz="1200" dirty="0">
                <a:solidFill>
                  <a:srgbClr val="475569"/>
                </a:solidFill>
                <a:latin typeface="Calibri" pitchFamily="34" charset="0"/>
                <a:ea typeface="Calibri" pitchFamily="34" charset="-122"/>
                <a:cs typeface="Calibri" pitchFamily="34" charset="-120"/>
              </a:rPr>
              <a:t>Le projet central : un site moderne, que la mairie peut gérer seule.</a:t>
            </a:r>
            <a:endParaRPr lang="en-US" sz="1200" dirty="0"/>
          </a:p>
        </p:txBody>
      </p:sp>
      <p:sp>
        <p:nvSpPr>
          <p:cNvPr id="10" name="Shape 8"/>
          <p:cNvSpPr/>
          <p:nvPr/>
        </p:nvSpPr>
        <p:spPr>
          <a:xfrm>
            <a:off x="685800" y="4023360"/>
            <a:ext cx="6309360" cy="914400"/>
          </a:xfrm>
          <a:prstGeom prst="roundRect">
            <a:avLst>
              <a:gd name="adj" fmla="val 10000"/>
            </a:avLst>
          </a:prstGeom>
          <a:solidFill>
            <a:srgbClr val="FFFFFF"/>
          </a:solidFill>
          <a:ln w="12700">
            <a:solidFill>
              <a:srgbClr val="E4E8F0"/>
            </a:solidFill>
            <a:prstDash val="solid"/>
          </a:ln>
          <a:effectLst>
            <a:outerShdw blurRad="203200" dist="63500" dir="5400000" algn="bl" rotWithShape="0">
              <a:srgbClr val="0B132B">
                <a:alpha val="10000"/>
              </a:srgbClr>
            </a:outerShdw>
          </a:effectLst>
        </p:spPr>
      </p:sp>
      <p:sp>
        <p:nvSpPr>
          <p:cNvPr id="11" name="Text 9"/>
          <p:cNvSpPr/>
          <p:nvPr/>
        </p:nvSpPr>
        <p:spPr>
          <a:xfrm>
            <a:off x="978408" y="4114800"/>
            <a:ext cx="5760720" cy="384048"/>
          </a:xfrm>
          <a:prstGeom prst="rect">
            <a:avLst/>
          </a:prstGeom>
          <a:noFill/>
          <a:ln/>
        </p:spPr>
        <p:txBody>
          <a:bodyPr wrap="square" lIns="0" tIns="0" rIns="0" bIns="0" rtlCol="0" anchor="ctr"/>
          <a:lstStyle/>
          <a:p>
            <a:pPr marL="0" indent="0">
              <a:buNone/>
            </a:pPr>
            <a:r>
              <a:rPr lang="en-US" sz="1500" b="1" dirty="0">
                <a:solidFill>
                  <a:srgbClr val="0B132B"/>
                </a:solidFill>
                <a:latin typeface="Calibri" pitchFamily="34" charset="0"/>
                <a:ea typeface="Calibri" pitchFamily="34" charset="-122"/>
                <a:cs typeface="Calibri" pitchFamily="34" charset="-120"/>
              </a:rPr>
              <a:t>L'appui informatique</a:t>
            </a:r>
            <a:endParaRPr lang="en-US" sz="1500" dirty="0"/>
          </a:p>
        </p:txBody>
      </p:sp>
      <p:sp>
        <p:nvSpPr>
          <p:cNvPr id="12" name="Text 10"/>
          <p:cNvSpPr/>
          <p:nvPr/>
        </p:nvSpPr>
        <p:spPr>
          <a:xfrm>
            <a:off x="978408" y="4498848"/>
            <a:ext cx="5760720" cy="347472"/>
          </a:xfrm>
          <a:prstGeom prst="rect">
            <a:avLst/>
          </a:prstGeom>
          <a:noFill/>
          <a:ln/>
        </p:spPr>
        <p:txBody>
          <a:bodyPr wrap="square" lIns="0" tIns="0" rIns="0" bIns="0" rtlCol="0" anchor="t"/>
          <a:lstStyle/>
          <a:p>
            <a:pPr marL="0" indent="0">
              <a:lnSpc>
                <a:spcPct val="105000"/>
              </a:lnSpc>
              <a:buNone/>
            </a:pPr>
            <a:r>
              <a:rPr lang="en-US" sz="1200" dirty="0">
                <a:solidFill>
                  <a:srgbClr val="475569"/>
                </a:solidFill>
                <a:latin typeface="Calibri" pitchFamily="34" charset="0"/>
                <a:ea typeface="Calibri" pitchFamily="34" charset="-122"/>
                <a:cs typeface="Calibri" pitchFamily="34" charset="-120"/>
              </a:rPr>
              <a:t>Signatures, vidéosurveillance, bureautique, dépannage au quotidien.</a:t>
            </a:r>
            <a:endParaRPr lang="en-US" sz="1200" dirty="0"/>
          </a:p>
        </p:txBody>
      </p:sp>
      <p:sp>
        <p:nvSpPr>
          <p:cNvPr id="13" name="Shape 11"/>
          <p:cNvSpPr/>
          <p:nvPr/>
        </p:nvSpPr>
        <p:spPr>
          <a:xfrm>
            <a:off x="685800" y="5074920"/>
            <a:ext cx="6309360" cy="914400"/>
          </a:xfrm>
          <a:prstGeom prst="roundRect">
            <a:avLst>
              <a:gd name="adj" fmla="val 10000"/>
            </a:avLst>
          </a:prstGeom>
          <a:solidFill>
            <a:srgbClr val="FFFFFF"/>
          </a:solidFill>
          <a:ln w="12700">
            <a:solidFill>
              <a:srgbClr val="E4E8F0"/>
            </a:solidFill>
            <a:prstDash val="solid"/>
          </a:ln>
          <a:effectLst>
            <a:outerShdw blurRad="203200" dist="63500" dir="5400000" algn="bl" rotWithShape="0">
              <a:srgbClr val="0B132B">
                <a:alpha val="10000"/>
              </a:srgbClr>
            </a:outerShdw>
          </a:effectLst>
        </p:spPr>
      </p:sp>
      <p:sp>
        <p:nvSpPr>
          <p:cNvPr id="14" name="Text 12"/>
          <p:cNvSpPr/>
          <p:nvPr/>
        </p:nvSpPr>
        <p:spPr>
          <a:xfrm>
            <a:off x="978408" y="5166360"/>
            <a:ext cx="5760720" cy="384048"/>
          </a:xfrm>
          <a:prstGeom prst="rect">
            <a:avLst/>
          </a:prstGeom>
          <a:noFill/>
          <a:ln/>
        </p:spPr>
        <p:txBody>
          <a:bodyPr wrap="square" lIns="0" tIns="0" rIns="0" bIns="0" rtlCol="0" anchor="ctr"/>
          <a:lstStyle/>
          <a:p>
            <a:pPr marL="0" indent="0">
              <a:buNone/>
            </a:pPr>
            <a:r>
              <a:rPr lang="en-US" sz="1500" b="1" dirty="0">
                <a:solidFill>
                  <a:srgbClr val="0B132B"/>
                </a:solidFill>
                <a:latin typeface="Calibri" pitchFamily="34" charset="0"/>
                <a:ea typeface="Calibri" pitchFamily="34" charset="-122"/>
                <a:cs typeface="Calibri" pitchFamily="34" charset="-120"/>
              </a:rPr>
              <a:t>L'audit du système d'information</a:t>
            </a:r>
            <a:endParaRPr lang="en-US" sz="1500" dirty="0"/>
          </a:p>
        </p:txBody>
      </p:sp>
      <p:sp>
        <p:nvSpPr>
          <p:cNvPr id="15" name="Text 13"/>
          <p:cNvSpPr/>
          <p:nvPr/>
        </p:nvSpPr>
        <p:spPr>
          <a:xfrm>
            <a:off x="978408" y="5550408"/>
            <a:ext cx="5760720" cy="347472"/>
          </a:xfrm>
          <a:prstGeom prst="rect">
            <a:avLst/>
          </a:prstGeom>
          <a:noFill/>
          <a:ln/>
        </p:spPr>
        <p:txBody>
          <a:bodyPr wrap="square" lIns="0" tIns="0" rIns="0" bIns="0" rtlCol="0" anchor="t"/>
          <a:lstStyle/>
          <a:p>
            <a:pPr marL="0" indent="0">
              <a:lnSpc>
                <a:spcPct val="105000"/>
              </a:lnSpc>
              <a:buNone/>
            </a:pPr>
            <a:r>
              <a:rPr lang="en-US" sz="1200" dirty="0">
                <a:solidFill>
                  <a:srgbClr val="475569"/>
                </a:solidFill>
                <a:latin typeface="Calibri" pitchFamily="34" charset="0"/>
                <a:ea typeface="Calibri" pitchFamily="34" charset="-122"/>
                <a:cs typeface="Calibri" pitchFamily="34" charset="-120"/>
              </a:rPr>
              <a:t>Contrats, équipements, coûts : un diagnostic complet.</a:t>
            </a:r>
            <a:endParaRPr lang="en-US" sz="1200" dirty="0"/>
          </a:p>
        </p:txBody>
      </p:sp>
      <p:sp>
        <p:nvSpPr>
          <p:cNvPr id="16" name="Shape 14"/>
          <p:cNvSpPr/>
          <p:nvPr/>
        </p:nvSpPr>
        <p:spPr>
          <a:xfrm>
            <a:off x="7424928" y="2121408"/>
            <a:ext cx="4078224" cy="2862072"/>
          </a:xfrm>
          <a:prstGeom prst="roundRect">
            <a:avLst>
              <a:gd name="adj" fmla="val 2875"/>
            </a:avLst>
          </a:prstGeom>
          <a:solidFill>
            <a:srgbClr val="FFFFFF"/>
          </a:solidFill>
          <a:ln w="12700">
            <a:solidFill>
              <a:srgbClr val="E4E8F0"/>
            </a:solidFill>
            <a:prstDash val="solid"/>
          </a:ln>
          <a:effectLst>
            <a:outerShdw blurRad="203200" dist="63500" dir="5400000" algn="bl" rotWithShape="0">
              <a:srgbClr val="0B132B">
                <a:alpha val="10000"/>
              </a:srgbClr>
            </a:outerShdw>
          </a:effectLst>
        </p:spPr>
      </p:sp>
      <p:pic>
        <p:nvPicPr>
          <p:cNvPr id="17" name="Image 0" descr="/home/claude/mairie_photo.jpg"/>
          <p:cNvPicPr>
            <a:picLocks noChangeAspect="1"/>
          </p:cNvPicPr>
          <p:nvPr/>
        </p:nvPicPr>
        <p:blipFill>
          <a:blip r:embed="rId4"/>
          <a:stretch>
            <a:fillRect/>
          </a:stretch>
        </p:blipFill>
        <p:spPr>
          <a:xfrm>
            <a:off x="7498080" y="2194560"/>
            <a:ext cx="3931920" cy="2715768"/>
          </a:xfrm>
          <a:prstGeom prst="rect">
            <a:avLst/>
          </a:prstGeom>
        </p:spPr>
      </p:pic>
      <p:sp>
        <p:nvSpPr>
          <p:cNvPr id="18" name="Text 15"/>
          <p:cNvSpPr/>
          <p:nvPr/>
        </p:nvSpPr>
        <p:spPr>
          <a:xfrm>
            <a:off x="7315200" y="5038344"/>
            <a:ext cx="4297680" cy="310896"/>
          </a:xfrm>
          <a:prstGeom prst="rect">
            <a:avLst/>
          </a:prstGeom>
          <a:noFill/>
          <a:ln/>
        </p:spPr>
        <p:txBody>
          <a:bodyPr wrap="square" lIns="0" tIns="0" rIns="0" bIns="0" rtlCol="0" anchor="ctr"/>
          <a:lstStyle/>
          <a:p>
            <a:pPr marL="0" indent="0" algn="ctr">
              <a:buNone/>
            </a:pPr>
            <a:r>
              <a:rPr lang="en-US" sz="1150" i="1" dirty="0">
                <a:solidFill>
                  <a:srgbClr val="475569"/>
                </a:solidFill>
                <a:latin typeface="Georgia" pitchFamily="34" charset="0"/>
                <a:ea typeface="Georgia" pitchFamily="34" charset="-122"/>
                <a:cs typeface="Georgia" pitchFamily="34" charset="-120"/>
              </a:rPr>
              <a:t>Douvres, 1 100 habitants - aucun service informatique</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85800" y="411480"/>
            <a:ext cx="1489558" cy="329184"/>
          </a:xfrm>
          <a:prstGeom prst="roundRect">
            <a:avLst>
              <a:gd name="adj" fmla="val 50000"/>
            </a:avLst>
          </a:prstGeom>
          <a:solidFill>
            <a:srgbClr val="0B132B"/>
          </a:solidFill>
          <a:ln/>
          <a:effectLst>
            <a:outerShdw blurRad="203200" dist="63500" dir="5400000" algn="bl" rotWithShape="0">
              <a:srgbClr val="0B132B">
                <a:alpha val="10000"/>
              </a:srgbClr>
            </a:outerShdw>
          </a:effectLst>
        </p:spPr>
      </p:sp>
      <p:sp>
        <p:nvSpPr>
          <p:cNvPr id="3" name="Text 1"/>
          <p:cNvSpPr/>
          <p:nvPr/>
        </p:nvSpPr>
        <p:spPr>
          <a:xfrm>
            <a:off x="685800" y="411480"/>
            <a:ext cx="1489558" cy="329184"/>
          </a:xfrm>
          <a:prstGeom prst="rect">
            <a:avLst/>
          </a:prstGeom>
          <a:noFill/>
          <a:ln/>
        </p:spPr>
        <p:txBody>
          <a:bodyPr wrap="square" lIns="0" tIns="0" rIns="0" bIns="0" rtlCol="0" anchor="ctr"/>
          <a:lstStyle/>
          <a:p>
            <a:pPr marL="0" indent="0" algn="ctr">
              <a:buNone/>
            </a:pPr>
            <a:r>
              <a:rPr lang="en-US" sz="1050" b="1" kern="0" spc="200" dirty="0">
                <a:solidFill>
                  <a:srgbClr val="FFFFFF"/>
                </a:solidFill>
                <a:latin typeface="Calibri" pitchFamily="34" charset="0"/>
                <a:ea typeface="Calibri" pitchFamily="34" charset="-122"/>
                <a:cs typeface="Calibri" pitchFamily="34" charset="-120"/>
              </a:rPr>
              <a:t>LA PRODUCTION</a:t>
            </a:r>
            <a:endParaRPr lang="en-US" sz="1050" dirty="0"/>
          </a:p>
        </p:txBody>
      </p:sp>
      <p:sp>
        <p:nvSpPr>
          <p:cNvPr id="4" name="Text 2"/>
          <p:cNvSpPr/>
          <p:nvPr/>
        </p:nvSpPr>
        <p:spPr>
          <a:xfrm>
            <a:off x="658368" y="786384"/>
            <a:ext cx="10881360" cy="713232"/>
          </a:xfrm>
          <a:prstGeom prst="rect">
            <a:avLst/>
          </a:prstGeom>
          <a:noFill/>
          <a:ln/>
        </p:spPr>
        <p:txBody>
          <a:bodyPr wrap="square" lIns="0" tIns="0" rIns="0" bIns="0" rtlCol="0" anchor="ctr"/>
          <a:lstStyle/>
          <a:p>
            <a:pPr marL="0" indent="0">
              <a:buNone/>
            </a:pPr>
            <a:r>
              <a:rPr lang="en-US" sz="3000" b="1" i="1" dirty="0">
                <a:solidFill>
                  <a:srgbClr val="0B132B"/>
                </a:solidFill>
                <a:latin typeface="Georgia" pitchFamily="34" charset="0"/>
                <a:ea typeface="Georgia" pitchFamily="34" charset="-122"/>
                <a:cs typeface="Georgia" pitchFamily="34" charset="-120"/>
              </a:rPr>
              <a:t>Le nouveau site</a:t>
            </a:r>
            <a:endParaRPr lang="en-US" sz="3000" dirty="0"/>
          </a:p>
        </p:txBody>
      </p:sp>
      <p:sp>
        <p:nvSpPr>
          <p:cNvPr id="5" name="Shape 3"/>
          <p:cNvSpPr/>
          <p:nvPr/>
        </p:nvSpPr>
        <p:spPr>
          <a:xfrm>
            <a:off x="804672" y="1984248"/>
            <a:ext cx="118872" cy="118872"/>
          </a:xfrm>
          <a:prstGeom prst="ellipse">
            <a:avLst/>
          </a:prstGeom>
          <a:solidFill>
            <a:srgbClr val="0B132B"/>
          </a:solidFill>
          <a:ln/>
        </p:spPr>
      </p:sp>
      <p:sp>
        <p:nvSpPr>
          <p:cNvPr id="6" name="Text 4"/>
          <p:cNvSpPr/>
          <p:nvPr/>
        </p:nvSpPr>
        <p:spPr>
          <a:xfrm>
            <a:off x="1115568" y="1746504"/>
            <a:ext cx="5212080" cy="777240"/>
          </a:xfrm>
          <a:prstGeom prst="rect">
            <a:avLst/>
          </a:prstGeom>
          <a:noFill/>
          <a:ln/>
        </p:spPr>
        <p:txBody>
          <a:bodyPr wrap="square" lIns="0" tIns="0" rIns="0" bIns="0" rtlCol="0" anchor="ctr"/>
          <a:lstStyle/>
          <a:p>
            <a:pPr marL="0" indent="0">
              <a:buNone/>
            </a:pPr>
            <a:r>
              <a:rPr lang="en-US" sz="1600" b="1" dirty="0">
                <a:solidFill>
                  <a:srgbClr val="0B132B"/>
                </a:solidFill>
                <a:latin typeface="Calibri" pitchFamily="34" charset="0"/>
                <a:ea typeface="Calibri" pitchFamily="34" charset="-122"/>
                <a:cs typeface="Calibri" pitchFamily="34" charset="-120"/>
              </a:rPr>
              <a:t>Un thème personnalisé WordPress
</a:t>
            </a:r>
            <a:endParaRPr lang="en-US" sz="1600" dirty="0"/>
          </a:p>
          <a:p>
            <a:pPr marL="0" indent="0">
              <a:buNone/>
            </a:pPr>
            <a:r>
              <a:rPr lang="en-US" sz="1250" dirty="0">
                <a:solidFill>
                  <a:srgbClr val="475569"/>
                </a:solidFill>
                <a:latin typeface="Calibri" pitchFamily="34" charset="0"/>
                <a:ea typeface="Calibri" pitchFamily="34" charset="-122"/>
                <a:cs typeface="Calibri" pitchFamily="34" charset="-120"/>
              </a:rPr>
              <a:t>thème dédié à la mairie; </a:t>
            </a:r>
            <a:r>
              <a:rPr lang="en-US" sz="1250" dirty="0" err="1">
                <a:solidFill>
                  <a:srgbClr val="475569"/>
                </a:solidFill>
                <a:latin typeface="Calibri" pitchFamily="34" charset="0"/>
                <a:ea typeface="Calibri" pitchFamily="34" charset="-122"/>
                <a:cs typeface="Calibri" pitchFamily="34" charset="-120"/>
              </a:rPr>
              <a:t>php</a:t>
            </a:r>
            <a:r>
              <a:rPr lang="en-US" sz="1250" dirty="0">
                <a:solidFill>
                  <a:srgbClr val="475569"/>
                </a:solidFill>
                <a:latin typeface="Calibri" pitchFamily="34" charset="0"/>
                <a:ea typeface="Calibri" pitchFamily="34" charset="-122"/>
                <a:cs typeface="Calibri" pitchFamily="34" charset="-120"/>
              </a:rPr>
              <a:t>, </a:t>
            </a:r>
            <a:r>
              <a:rPr lang="en-US" sz="1250" dirty="0" err="1">
                <a:solidFill>
                  <a:srgbClr val="475569"/>
                </a:solidFill>
                <a:latin typeface="Calibri" pitchFamily="34" charset="0"/>
                <a:ea typeface="Calibri" pitchFamily="34" charset="-122"/>
                <a:cs typeface="Calibri" pitchFamily="34" charset="-120"/>
              </a:rPr>
              <a:t>htlm</a:t>
            </a:r>
            <a:r>
              <a:rPr lang="en-US" sz="1250" dirty="0">
                <a:solidFill>
                  <a:srgbClr val="475569"/>
                </a:solidFill>
                <a:latin typeface="Calibri" pitchFamily="34" charset="0"/>
                <a:ea typeface="Calibri" pitchFamily="34" charset="-122"/>
                <a:cs typeface="Calibri" pitchFamily="34" charset="-120"/>
              </a:rPr>
              <a:t>, </a:t>
            </a:r>
            <a:r>
              <a:rPr lang="en-US" sz="1250" dirty="0" err="1">
                <a:solidFill>
                  <a:srgbClr val="475569"/>
                </a:solidFill>
                <a:latin typeface="Calibri" pitchFamily="34" charset="0"/>
                <a:ea typeface="Calibri" pitchFamily="34" charset="-122"/>
                <a:cs typeface="Calibri" pitchFamily="34" charset="-120"/>
              </a:rPr>
              <a:t>css</a:t>
            </a:r>
            <a:r>
              <a:rPr lang="en-US" sz="1250" dirty="0">
                <a:solidFill>
                  <a:srgbClr val="475569"/>
                </a:solidFill>
                <a:latin typeface="Calibri" pitchFamily="34" charset="0"/>
                <a:ea typeface="Calibri" pitchFamily="34" charset="-122"/>
                <a:cs typeface="Calibri" pitchFamily="34" charset="-120"/>
              </a:rPr>
              <a:t>, </a:t>
            </a:r>
            <a:r>
              <a:rPr lang="en-US" sz="1250" dirty="0" err="1">
                <a:solidFill>
                  <a:srgbClr val="475569"/>
                </a:solidFill>
                <a:latin typeface="Calibri" pitchFamily="34" charset="0"/>
                <a:ea typeface="Calibri" pitchFamily="34" charset="-122"/>
                <a:cs typeface="Calibri" pitchFamily="34" charset="-120"/>
              </a:rPr>
              <a:t>javascript</a:t>
            </a:r>
            <a:endParaRPr lang="en-US" sz="1600" dirty="0"/>
          </a:p>
        </p:txBody>
      </p:sp>
      <p:sp>
        <p:nvSpPr>
          <p:cNvPr id="7" name="Shape 5"/>
          <p:cNvSpPr/>
          <p:nvPr/>
        </p:nvSpPr>
        <p:spPr>
          <a:xfrm>
            <a:off x="804672" y="2990088"/>
            <a:ext cx="118872" cy="118872"/>
          </a:xfrm>
          <a:prstGeom prst="ellipse">
            <a:avLst/>
          </a:prstGeom>
          <a:solidFill>
            <a:srgbClr val="0B132B"/>
          </a:solidFill>
          <a:ln/>
        </p:spPr>
      </p:sp>
      <p:sp>
        <p:nvSpPr>
          <p:cNvPr id="8" name="Text 6"/>
          <p:cNvSpPr/>
          <p:nvPr/>
        </p:nvSpPr>
        <p:spPr>
          <a:xfrm>
            <a:off x="1115568" y="2752344"/>
            <a:ext cx="5212080" cy="777240"/>
          </a:xfrm>
          <a:prstGeom prst="rect">
            <a:avLst/>
          </a:prstGeom>
          <a:noFill/>
          <a:ln/>
        </p:spPr>
        <p:txBody>
          <a:bodyPr wrap="square" lIns="0" tIns="0" rIns="0" bIns="0" rtlCol="0" anchor="ctr"/>
          <a:lstStyle/>
          <a:p>
            <a:pPr marL="0" indent="0">
              <a:buNone/>
            </a:pPr>
            <a:r>
              <a:rPr lang="en-US" sz="1600" b="1" dirty="0">
                <a:solidFill>
                  <a:srgbClr val="0B132B"/>
                </a:solidFill>
                <a:latin typeface="Calibri" pitchFamily="34" charset="0"/>
                <a:ea typeface="Calibri" pitchFamily="34" charset="-122"/>
                <a:cs typeface="Calibri" pitchFamily="34" charset="-120"/>
              </a:rPr>
              <a:t>Full Site Editing
</a:t>
            </a:r>
            <a:endParaRPr lang="en-US" sz="1600" dirty="0"/>
          </a:p>
          <a:p>
            <a:pPr marL="0" indent="0">
              <a:buNone/>
            </a:pPr>
            <a:r>
              <a:rPr lang="en-US" sz="1250" dirty="0">
                <a:solidFill>
                  <a:srgbClr val="475569"/>
                </a:solidFill>
                <a:latin typeface="Calibri" pitchFamily="34" charset="0"/>
                <a:ea typeface="Calibri" pitchFamily="34" charset="-122"/>
                <a:cs typeface="Calibri" pitchFamily="34" charset="-120"/>
              </a:rPr>
              <a:t>la mairie modifie tout le site, sans écrire de code</a:t>
            </a:r>
            <a:endParaRPr lang="en-US" sz="1600" dirty="0"/>
          </a:p>
        </p:txBody>
      </p:sp>
      <p:sp>
        <p:nvSpPr>
          <p:cNvPr id="9" name="Shape 7"/>
          <p:cNvSpPr/>
          <p:nvPr/>
        </p:nvSpPr>
        <p:spPr>
          <a:xfrm>
            <a:off x="804672" y="3995928"/>
            <a:ext cx="118872" cy="118872"/>
          </a:xfrm>
          <a:prstGeom prst="ellipse">
            <a:avLst/>
          </a:prstGeom>
          <a:solidFill>
            <a:srgbClr val="0B132B"/>
          </a:solidFill>
          <a:ln/>
        </p:spPr>
      </p:sp>
      <p:sp>
        <p:nvSpPr>
          <p:cNvPr id="10" name="Text 8"/>
          <p:cNvSpPr/>
          <p:nvPr/>
        </p:nvSpPr>
        <p:spPr>
          <a:xfrm>
            <a:off x="1115568" y="3758184"/>
            <a:ext cx="5212080" cy="777240"/>
          </a:xfrm>
          <a:prstGeom prst="rect">
            <a:avLst/>
          </a:prstGeom>
          <a:noFill/>
          <a:ln/>
        </p:spPr>
        <p:txBody>
          <a:bodyPr wrap="square" lIns="0" tIns="0" rIns="0" bIns="0" rtlCol="0" anchor="ctr"/>
          <a:lstStyle/>
          <a:p>
            <a:pPr marL="0" indent="0">
              <a:buNone/>
            </a:pPr>
            <a:r>
              <a:rPr lang="en-US" sz="1600" b="1" dirty="0">
                <a:solidFill>
                  <a:srgbClr val="0B132B"/>
                </a:solidFill>
                <a:latin typeface="Calibri" pitchFamily="34" charset="0"/>
                <a:ea typeface="Calibri" pitchFamily="34" charset="-122"/>
                <a:cs typeface="Calibri" pitchFamily="34" charset="-120"/>
              </a:rPr>
              <a:t>Développé en local avec Docker
</a:t>
            </a:r>
            <a:endParaRPr lang="en-US" sz="1600" dirty="0"/>
          </a:p>
          <a:p>
            <a:pPr marL="0" indent="0">
              <a:buNone/>
            </a:pPr>
            <a:r>
              <a:rPr lang="en-US" sz="1250" dirty="0">
                <a:solidFill>
                  <a:srgbClr val="475569"/>
                </a:solidFill>
                <a:latin typeface="Calibri" pitchFamily="34" charset="0"/>
                <a:ea typeface="Calibri" pitchFamily="34" charset="-122"/>
                <a:cs typeface="Calibri" pitchFamily="34" charset="-120"/>
              </a:rPr>
              <a:t>sans jamais toucher au site en ligne</a:t>
            </a:r>
            <a:endParaRPr lang="en-US" sz="1600" dirty="0"/>
          </a:p>
        </p:txBody>
      </p:sp>
      <p:sp>
        <p:nvSpPr>
          <p:cNvPr id="11" name="Shape 9"/>
          <p:cNvSpPr/>
          <p:nvPr/>
        </p:nvSpPr>
        <p:spPr>
          <a:xfrm>
            <a:off x="804672" y="5001768"/>
            <a:ext cx="118872" cy="118872"/>
          </a:xfrm>
          <a:prstGeom prst="ellipse">
            <a:avLst/>
          </a:prstGeom>
          <a:solidFill>
            <a:srgbClr val="0B132B"/>
          </a:solidFill>
          <a:ln/>
        </p:spPr>
      </p:sp>
      <p:sp>
        <p:nvSpPr>
          <p:cNvPr id="12" name="Text 10"/>
          <p:cNvSpPr/>
          <p:nvPr/>
        </p:nvSpPr>
        <p:spPr>
          <a:xfrm>
            <a:off x="1115568" y="4764024"/>
            <a:ext cx="5212080" cy="777240"/>
          </a:xfrm>
          <a:prstGeom prst="rect">
            <a:avLst/>
          </a:prstGeom>
          <a:noFill/>
          <a:ln/>
        </p:spPr>
        <p:txBody>
          <a:bodyPr wrap="square" lIns="0" tIns="0" rIns="0" bIns="0" rtlCol="0" anchor="ctr"/>
          <a:lstStyle/>
          <a:p>
            <a:pPr marL="0" indent="0">
              <a:buNone/>
            </a:pPr>
            <a:r>
              <a:rPr lang="en-US" sz="1600" b="1" dirty="0">
                <a:solidFill>
                  <a:srgbClr val="0B132B"/>
                </a:solidFill>
                <a:latin typeface="Calibri" pitchFamily="34" charset="0"/>
                <a:ea typeface="Calibri" pitchFamily="34" charset="-122"/>
                <a:cs typeface="Calibri" pitchFamily="34" charset="-120"/>
              </a:rPr>
              <a:t>Première version fonctionnelle
</a:t>
            </a:r>
            <a:endParaRPr lang="en-US" sz="1600" dirty="0"/>
          </a:p>
          <a:p>
            <a:pPr marL="0" indent="0">
              <a:buNone/>
            </a:pPr>
            <a:r>
              <a:rPr lang="en-US" sz="1250" dirty="0">
                <a:solidFill>
                  <a:srgbClr val="475569"/>
                </a:solidFill>
                <a:latin typeface="Calibri" pitchFamily="34" charset="0"/>
                <a:ea typeface="Calibri" pitchFamily="34" charset="-122"/>
                <a:cs typeface="Calibri" pitchFamily="34" charset="-120"/>
              </a:rPr>
              <a:t>livrée le 2 juillet, dernier jour du stage</a:t>
            </a:r>
            <a:endParaRPr lang="en-US" sz="1600" dirty="0"/>
          </a:p>
        </p:txBody>
      </p:sp>
      <p:sp>
        <p:nvSpPr>
          <p:cNvPr id="13" name="Shape 11"/>
          <p:cNvSpPr/>
          <p:nvPr/>
        </p:nvSpPr>
        <p:spPr>
          <a:xfrm>
            <a:off x="4689232" y="1143000"/>
            <a:ext cx="7274638" cy="4026877"/>
          </a:xfrm>
          <a:prstGeom prst="roundRect">
            <a:avLst>
              <a:gd name="adj" fmla="val 2362"/>
            </a:avLst>
          </a:prstGeom>
          <a:solidFill>
            <a:srgbClr val="FFFFFF"/>
          </a:solidFill>
          <a:ln w="12700">
            <a:solidFill>
              <a:srgbClr val="E4E8F0"/>
            </a:solidFill>
            <a:prstDash val="solid"/>
          </a:ln>
          <a:effectLst>
            <a:outerShdw blurRad="203200" dist="63500" dir="5400000" algn="bl" rotWithShape="0">
              <a:srgbClr val="0B132B">
                <a:alpha val="10000"/>
              </a:srgbClr>
            </a:outerShdw>
          </a:effectLst>
        </p:spPr>
      </p:sp>
      <p:pic>
        <p:nvPicPr>
          <p:cNvPr id="19" name="Image 18">
            <a:extLst>
              <a:ext uri="{FF2B5EF4-FFF2-40B4-BE49-F238E27FC236}">
                <a16:creationId xmlns:a16="http://schemas.microsoft.com/office/drawing/2014/main" id="{C768E87B-62A2-0FC7-ECB6-7672769FC7F0}"/>
              </a:ext>
            </a:extLst>
          </p:cNvPr>
          <p:cNvPicPr>
            <a:picLocks noChangeAspect="1"/>
          </p:cNvPicPr>
          <p:nvPr/>
        </p:nvPicPr>
        <p:blipFill>
          <a:blip r:embed="rId4"/>
          <a:stretch>
            <a:fillRect/>
          </a:stretch>
        </p:blipFill>
        <p:spPr>
          <a:xfrm>
            <a:off x="4758365" y="1190244"/>
            <a:ext cx="7136371" cy="390144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85800" y="411480"/>
            <a:ext cx="1489558" cy="329184"/>
          </a:xfrm>
          <a:prstGeom prst="roundRect">
            <a:avLst>
              <a:gd name="adj" fmla="val 50000"/>
            </a:avLst>
          </a:prstGeom>
          <a:solidFill>
            <a:srgbClr val="0B132B"/>
          </a:solidFill>
          <a:ln/>
          <a:effectLst>
            <a:outerShdw blurRad="203200" dist="63500" dir="5400000" algn="bl" rotWithShape="0">
              <a:srgbClr val="0B132B">
                <a:alpha val="10000"/>
              </a:srgbClr>
            </a:outerShdw>
          </a:effectLst>
        </p:spPr>
      </p:sp>
      <p:sp>
        <p:nvSpPr>
          <p:cNvPr id="3" name="Text 1"/>
          <p:cNvSpPr/>
          <p:nvPr/>
        </p:nvSpPr>
        <p:spPr>
          <a:xfrm>
            <a:off x="685800" y="411480"/>
            <a:ext cx="1489558" cy="329184"/>
          </a:xfrm>
          <a:prstGeom prst="rect">
            <a:avLst/>
          </a:prstGeom>
          <a:noFill/>
          <a:ln/>
        </p:spPr>
        <p:txBody>
          <a:bodyPr wrap="square" lIns="0" tIns="0" rIns="0" bIns="0" rtlCol="0" anchor="ctr"/>
          <a:lstStyle/>
          <a:p>
            <a:pPr marL="0" indent="0" algn="ctr">
              <a:buNone/>
            </a:pPr>
            <a:r>
              <a:rPr lang="en-US" sz="1050" b="1" kern="0" spc="200" dirty="0">
                <a:solidFill>
                  <a:srgbClr val="FFFFFF"/>
                </a:solidFill>
                <a:latin typeface="Calibri" pitchFamily="34" charset="0"/>
                <a:ea typeface="Calibri" pitchFamily="34" charset="-122"/>
                <a:cs typeface="Calibri" pitchFamily="34" charset="-120"/>
              </a:rPr>
              <a:t>LA PRODUCTION</a:t>
            </a:r>
            <a:endParaRPr lang="en-US" sz="1050" dirty="0"/>
          </a:p>
        </p:txBody>
      </p:sp>
      <p:sp>
        <p:nvSpPr>
          <p:cNvPr id="4" name="Text 2"/>
          <p:cNvSpPr/>
          <p:nvPr/>
        </p:nvSpPr>
        <p:spPr>
          <a:xfrm>
            <a:off x="658368" y="786384"/>
            <a:ext cx="10881360" cy="713232"/>
          </a:xfrm>
          <a:prstGeom prst="rect">
            <a:avLst/>
          </a:prstGeom>
          <a:noFill/>
          <a:ln/>
        </p:spPr>
        <p:txBody>
          <a:bodyPr wrap="square" lIns="0" tIns="0" rIns="0" bIns="0" rtlCol="0" anchor="ctr"/>
          <a:lstStyle/>
          <a:p>
            <a:pPr marL="0" indent="0">
              <a:buNone/>
            </a:pPr>
            <a:r>
              <a:rPr lang="en-US" sz="3000" b="1" i="1" dirty="0">
                <a:solidFill>
                  <a:srgbClr val="0B132B"/>
                </a:solidFill>
                <a:latin typeface="Georgia" pitchFamily="34" charset="0"/>
                <a:ea typeface="Georgia" pitchFamily="34" charset="-122"/>
                <a:cs typeface="Georgia" pitchFamily="34" charset="-120"/>
              </a:rPr>
              <a:t>Ce que le site sait faire</a:t>
            </a:r>
            <a:endParaRPr lang="en-US" sz="3000" dirty="0"/>
          </a:p>
        </p:txBody>
      </p:sp>
      <p:sp>
        <p:nvSpPr>
          <p:cNvPr id="5" name="Shape 3"/>
          <p:cNvSpPr/>
          <p:nvPr/>
        </p:nvSpPr>
        <p:spPr>
          <a:xfrm>
            <a:off x="685800" y="1828800"/>
            <a:ext cx="5349240" cy="1783080"/>
          </a:xfrm>
          <a:prstGeom prst="roundRect">
            <a:avLst>
              <a:gd name="adj" fmla="val 5128"/>
            </a:avLst>
          </a:prstGeom>
          <a:solidFill>
            <a:srgbClr val="FFFFFF"/>
          </a:solidFill>
          <a:ln w="12700">
            <a:solidFill>
              <a:srgbClr val="E4E8F0"/>
            </a:solidFill>
            <a:prstDash val="solid"/>
          </a:ln>
          <a:effectLst>
            <a:outerShdw blurRad="203200" dist="63500" dir="5400000" algn="bl" rotWithShape="0">
              <a:srgbClr val="0B132B">
                <a:alpha val="10000"/>
              </a:srgbClr>
            </a:outerShdw>
          </a:effectLst>
        </p:spPr>
      </p:sp>
      <p:sp>
        <p:nvSpPr>
          <p:cNvPr id="6" name="Text 4"/>
          <p:cNvSpPr/>
          <p:nvPr/>
        </p:nvSpPr>
        <p:spPr>
          <a:xfrm>
            <a:off x="978408" y="1920240"/>
            <a:ext cx="4800600" cy="384048"/>
          </a:xfrm>
          <a:prstGeom prst="rect">
            <a:avLst/>
          </a:prstGeom>
          <a:noFill/>
          <a:ln/>
        </p:spPr>
        <p:txBody>
          <a:bodyPr wrap="square" lIns="0" tIns="0" rIns="0" bIns="0" rtlCol="0" anchor="ctr"/>
          <a:lstStyle/>
          <a:p>
            <a:pPr marL="0" indent="0">
              <a:buNone/>
            </a:pPr>
            <a:r>
              <a:rPr lang="en-US" sz="1800" b="1" dirty="0">
                <a:solidFill>
                  <a:srgbClr val="0B132B"/>
                </a:solidFill>
                <a:latin typeface="Calibri" pitchFamily="34" charset="0"/>
                <a:ea typeface="Calibri" pitchFamily="34" charset="-122"/>
                <a:cs typeface="Calibri" pitchFamily="34" charset="-120"/>
              </a:rPr>
              <a:t>Actualités</a:t>
            </a:r>
            <a:endParaRPr lang="en-US" sz="1800" dirty="0"/>
          </a:p>
        </p:txBody>
      </p:sp>
      <p:sp>
        <p:nvSpPr>
          <p:cNvPr id="7" name="Text 5"/>
          <p:cNvSpPr/>
          <p:nvPr/>
        </p:nvSpPr>
        <p:spPr>
          <a:xfrm>
            <a:off x="978408" y="2304288"/>
            <a:ext cx="4800600" cy="1216152"/>
          </a:xfrm>
          <a:prstGeom prst="rect">
            <a:avLst/>
          </a:prstGeom>
          <a:noFill/>
          <a:ln/>
        </p:spPr>
        <p:txBody>
          <a:bodyPr wrap="square" lIns="0" tIns="0" rIns="0" bIns="0" rtlCol="0" anchor="t"/>
          <a:lstStyle/>
          <a:p>
            <a:pPr marL="0" indent="0">
              <a:lnSpc>
                <a:spcPct val="105000"/>
              </a:lnSpc>
              <a:buNone/>
            </a:pPr>
            <a:r>
              <a:rPr lang="en-US" sz="1350" dirty="0">
                <a:solidFill>
                  <a:srgbClr val="475569"/>
                </a:solidFill>
                <a:latin typeface="Calibri" pitchFamily="34" charset="0"/>
                <a:ea typeface="Calibri" pitchFamily="34" charset="-122"/>
                <a:cs typeface="Calibri" pitchFamily="34" charset="-120"/>
              </a:rPr>
              <a:t>La mairie publie seule et choisit l'emplacement sur le site.</a:t>
            </a:r>
            <a:endParaRPr lang="en-US" sz="1350" dirty="0"/>
          </a:p>
        </p:txBody>
      </p:sp>
      <p:sp>
        <p:nvSpPr>
          <p:cNvPr id="8" name="Shape 6"/>
          <p:cNvSpPr/>
          <p:nvPr/>
        </p:nvSpPr>
        <p:spPr>
          <a:xfrm>
            <a:off x="6309360" y="1828800"/>
            <a:ext cx="5349240" cy="1783080"/>
          </a:xfrm>
          <a:prstGeom prst="roundRect">
            <a:avLst>
              <a:gd name="adj" fmla="val 5128"/>
            </a:avLst>
          </a:prstGeom>
          <a:solidFill>
            <a:srgbClr val="FFFFFF"/>
          </a:solidFill>
          <a:ln w="12700">
            <a:solidFill>
              <a:srgbClr val="E4E8F0"/>
            </a:solidFill>
            <a:prstDash val="solid"/>
          </a:ln>
          <a:effectLst>
            <a:outerShdw blurRad="203200" dist="63500" dir="5400000" algn="bl" rotWithShape="0">
              <a:srgbClr val="0B132B">
                <a:alpha val="10000"/>
              </a:srgbClr>
            </a:outerShdw>
          </a:effectLst>
        </p:spPr>
      </p:sp>
      <p:sp>
        <p:nvSpPr>
          <p:cNvPr id="9" name="Text 7"/>
          <p:cNvSpPr/>
          <p:nvPr/>
        </p:nvSpPr>
        <p:spPr>
          <a:xfrm>
            <a:off x="6601968" y="1920240"/>
            <a:ext cx="4800600" cy="384048"/>
          </a:xfrm>
          <a:prstGeom prst="rect">
            <a:avLst/>
          </a:prstGeom>
          <a:noFill/>
          <a:ln/>
        </p:spPr>
        <p:txBody>
          <a:bodyPr wrap="square" lIns="0" tIns="0" rIns="0" bIns="0" rtlCol="0" anchor="ctr"/>
          <a:lstStyle/>
          <a:p>
            <a:pPr marL="0" indent="0">
              <a:buNone/>
            </a:pPr>
            <a:r>
              <a:rPr lang="en-US" sz="1800" b="1" dirty="0">
                <a:solidFill>
                  <a:srgbClr val="0B132B"/>
                </a:solidFill>
                <a:latin typeface="Calibri" pitchFamily="34" charset="0"/>
                <a:ea typeface="Calibri" pitchFamily="34" charset="-122"/>
                <a:cs typeface="Calibri" pitchFamily="34" charset="-120"/>
              </a:rPr>
              <a:t>Agenda automatique</a:t>
            </a:r>
            <a:endParaRPr lang="en-US" sz="1800" dirty="0"/>
          </a:p>
        </p:txBody>
      </p:sp>
      <p:sp>
        <p:nvSpPr>
          <p:cNvPr id="10" name="Text 8"/>
          <p:cNvSpPr/>
          <p:nvPr/>
        </p:nvSpPr>
        <p:spPr>
          <a:xfrm>
            <a:off x="6601968" y="2304288"/>
            <a:ext cx="4800600" cy="1216152"/>
          </a:xfrm>
          <a:prstGeom prst="rect">
            <a:avLst/>
          </a:prstGeom>
          <a:noFill/>
          <a:ln/>
        </p:spPr>
        <p:txBody>
          <a:bodyPr wrap="square" lIns="0" tIns="0" rIns="0" bIns="0" rtlCol="0" anchor="t"/>
          <a:lstStyle/>
          <a:p>
            <a:pPr marL="0" indent="0">
              <a:lnSpc>
                <a:spcPct val="105000"/>
              </a:lnSpc>
              <a:buNone/>
            </a:pPr>
            <a:r>
              <a:rPr lang="en-US" sz="1350" dirty="0">
                <a:solidFill>
                  <a:srgbClr val="475569"/>
                </a:solidFill>
                <a:latin typeface="Calibri" pitchFamily="34" charset="0"/>
                <a:ea typeface="Calibri" pitchFamily="34" charset="-122"/>
                <a:cs typeface="Calibri" pitchFamily="34" charset="-120"/>
              </a:rPr>
              <a:t>Les événements s'affichent et se retirent tout seuls, par date.</a:t>
            </a:r>
            <a:endParaRPr lang="en-US" sz="1350" dirty="0"/>
          </a:p>
        </p:txBody>
      </p:sp>
      <p:sp>
        <p:nvSpPr>
          <p:cNvPr id="11" name="Shape 9"/>
          <p:cNvSpPr/>
          <p:nvPr/>
        </p:nvSpPr>
        <p:spPr>
          <a:xfrm>
            <a:off x="685800" y="3931920"/>
            <a:ext cx="5349240" cy="1783080"/>
          </a:xfrm>
          <a:prstGeom prst="roundRect">
            <a:avLst>
              <a:gd name="adj" fmla="val 5128"/>
            </a:avLst>
          </a:prstGeom>
          <a:solidFill>
            <a:srgbClr val="FFFFFF"/>
          </a:solidFill>
          <a:ln w="12700">
            <a:solidFill>
              <a:srgbClr val="E4E8F0"/>
            </a:solidFill>
            <a:prstDash val="solid"/>
          </a:ln>
          <a:effectLst>
            <a:outerShdw blurRad="203200" dist="63500" dir="5400000" algn="bl" rotWithShape="0">
              <a:srgbClr val="0B132B">
                <a:alpha val="10000"/>
              </a:srgbClr>
            </a:outerShdw>
          </a:effectLst>
        </p:spPr>
      </p:sp>
      <p:sp>
        <p:nvSpPr>
          <p:cNvPr id="12" name="Text 10"/>
          <p:cNvSpPr/>
          <p:nvPr/>
        </p:nvSpPr>
        <p:spPr>
          <a:xfrm>
            <a:off x="978408" y="4023360"/>
            <a:ext cx="4800600" cy="384048"/>
          </a:xfrm>
          <a:prstGeom prst="rect">
            <a:avLst/>
          </a:prstGeom>
          <a:noFill/>
          <a:ln/>
        </p:spPr>
        <p:txBody>
          <a:bodyPr wrap="square" lIns="0" tIns="0" rIns="0" bIns="0" rtlCol="0" anchor="ctr"/>
          <a:lstStyle/>
          <a:p>
            <a:pPr marL="0" indent="0">
              <a:buNone/>
            </a:pPr>
            <a:r>
              <a:rPr lang="en-US" sz="1800" b="1" dirty="0">
                <a:solidFill>
                  <a:srgbClr val="0B132B"/>
                </a:solidFill>
                <a:latin typeface="Calibri" pitchFamily="34" charset="0"/>
                <a:ea typeface="Calibri" pitchFamily="34" charset="-122"/>
                <a:cs typeface="Calibri" pitchFamily="34" charset="-120"/>
              </a:rPr>
              <a:t>Galeries de photos</a:t>
            </a:r>
            <a:endParaRPr lang="en-US" sz="1800" dirty="0"/>
          </a:p>
        </p:txBody>
      </p:sp>
      <p:sp>
        <p:nvSpPr>
          <p:cNvPr id="13" name="Text 11"/>
          <p:cNvSpPr/>
          <p:nvPr/>
        </p:nvSpPr>
        <p:spPr>
          <a:xfrm>
            <a:off x="978408" y="4407408"/>
            <a:ext cx="4800600" cy="1216152"/>
          </a:xfrm>
          <a:prstGeom prst="rect">
            <a:avLst/>
          </a:prstGeom>
          <a:noFill/>
          <a:ln/>
        </p:spPr>
        <p:txBody>
          <a:bodyPr wrap="square" lIns="0" tIns="0" rIns="0" bIns="0" rtlCol="0" anchor="t"/>
          <a:lstStyle/>
          <a:p>
            <a:pPr marL="0" indent="0">
              <a:lnSpc>
                <a:spcPct val="105000"/>
              </a:lnSpc>
              <a:buNone/>
            </a:pPr>
            <a:r>
              <a:rPr lang="en-US" sz="1350" dirty="0">
                <a:solidFill>
                  <a:srgbClr val="475569"/>
                </a:solidFill>
                <a:latin typeface="Calibri" pitchFamily="34" charset="0"/>
                <a:ea typeface="Calibri" pitchFamily="34" charset="-122"/>
                <a:cs typeface="Calibri" pitchFamily="34" charset="-120"/>
              </a:rPr>
              <a:t>Pleine largeur, pour mettre le village en valeur.</a:t>
            </a:r>
            <a:endParaRPr lang="en-US" sz="1350" dirty="0"/>
          </a:p>
        </p:txBody>
      </p:sp>
      <p:sp>
        <p:nvSpPr>
          <p:cNvPr id="14" name="Shape 12"/>
          <p:cNvSpPr/>
          <p:nvPr/>
        </p:nvSpPr>
        <p:spPr>
          <a:xfrm>
            <a:off x="6309360" y="3931920"/>
            <a:ext cx="5349240" cy="1783080"/>
          </a:xfrm>
          <a:prstGeom prst="roundRect">
            <a:avLst>
              <a:gd name="adj" fmla="val 5128"/>
            </a:avLst>
          </a:prstGeom>
          <a:solidFill>
            <a:srgbClr val="FFFFFF"/>
          </a:solidFill>
          <a:ln w="12700">
            <a:solidFill>
              <a:srgbClr val="E4E8F0"/>
            </a:solidFill>
            <a:prstDash val="solid"/>
          </a:ln>
          <a:effectLst>
            <a:outerShdw blurRad="203200" dist="63500" dir="5400000" algn="bl" rotWithShape="0">
              <a:srgbClr val="0B132B">
                <a:alpha val="10000"/>
              </a:srgbClr>
            </a:outerShdw>
          </a:effectLst>
        </p:spPr>
      </p:sp>
      <p:sp>
        <p:nvSpPr>
          <p:cNvPr id="15" name="Text 13"/>
          <p:cNvSpPr/>
          <p:nvPr/>
        </p:nvSpPr>
        <p:spPr>
          <a:xfrm>
            <a:off x="6601968" y="4023360"/>
            <a:ext cx="4800600" cy="384048"/>
          </a:xfrm>
          <a:prstGeom prst="rect">
            <a:avLst/>
          </a:prstGeom>
          <a:noFill/>
          <a:ln/>
        </p:spPr>
        <p:txBody>
          <a:bodyPr wrap="square" lIns="0" tIns="0" rIns="0" bIns="0" rtlCol="0" anchor="ctr"/>
          <a:lstStyle/>
          <a:p>
            <a:pPr marL="0" indent="0">
              <a:buNone/>
            </a:pPr>
            <a:r>
              <a:rPr lang="en-US" sz="1800" b="1" dirty="0">
                <a:solidFill>
                  <a:srgbClr val="0B132B"/>
                </a:solidFill>
                <a:latin typeface="Calibri" pitchFamily="34" charset="0"/>
                <a:ea typeface="Calibri" pitchFamily="34" charset="-122"/>
                <a:cs typeface="Calibri" pitchFamily="34" charset="-120"/>
              </a:rPr>
              <a:t>Navigation simple</a:t>
            </a:r>
            <a:endParaRPr lang="en-US" sz="1800" dirty="0"/>
          </a:p>
        </p:txBody>
      </p:sp>
      <p:sp>
        <p:nvSpPr>
          <p:cNvPr id="16" name="Text 14"/>
          <p:cNvSpPr/>
          <p:nvPr/>
        </p:nvSpPr>
        <p:spPr>
          <a:xfrm>
            <a:off x="6601968" y="4407408"/>
            <a:ext cx="4800600" cy="1216152"/>
          </a:xfrm>
          <a:prstGeom prst="rect">
            <a:avLst/>
          </a:prstGeom>
          <a:noFill/>
          <a:ln/>
        </p:spPr>
        <p:txBody>
          <a:bodyPr wrap="square" lIns="0" tIns="0" rIns="0" bIns="0" rtlCol="0" anchor="t"/>
          <a:lstStyle/>
          <a:p>
            <a:pPr marL="0" indent="0">
              <a:lnSpc>
                <a:spcPct val="105000"/>
              </a:lnSpc>
              <a:buNone/>
            </a:pPr>
            <a:r>
              <a:rPr lang="en-US" sz="1350" dirty="0">
                <a:solidFill>
                  <a:srgbClr val="475569"/>
                </a:solidFill>
                <a:latin typeface="Calibri" pitchFamily="34" charset="0"/>
                <a:ea typeface="Calibri" pitchFamily="34" charset="-122"/>
                <a:cs typeface="Calibri" pitchFamily="34" charset="-120"/>
              </a:rPr>
              <a:t>Pensée pour tous les habitants, modifiable sans code.</a:t>
            </a:r>
            <a:endParaRPr lang="en-US" sz="1350" dirty="0"/>
          </a:p>
        </p:txBody>
      </p:sp>
      <p:sp>
        <p:nvSpPr>
          <p:cNvPr id="17" name="Text 15"/>
          <p:cNvSpPr/>
          <p:nvPr/>
        </p:nvSpPr>
        <p:spPr>
          <a:xfrm>
            <a:off x="685800" y="6080760"/>
            <a:ext cx="10881360" cy="411480"/>
          </a:xfrm>
          <a:prstGeom prst="rect">
            <a:avLst/>
          </a:prstGeom>
          <a:noFill/>
          <a:ln/>
        </p:spPr>
        <p:txBody>
          <a:bodyPr wrap="square" lIns="0" tIns="0" rIns="0" bIns="0" rtlCol="0" anchor="ctr"/>
          <a:lstStyle/>
          <a:p>
            <a:pPr marL="0" indent="0" algn="ctr">
              <a:buNone/>
            </a:pPr>
            <a:r>
              <a:rPr lang="en-US" sz="1500" i="1" dirty="0">
                <a:solidFill>
                  <a:srgbClr val="0B132B"/>
                </a:solidFill>
                <a:latin typeface="Georgia" pitchFamily="34" charset="0"/>
                <a:ea typeface="Georgia" pitchFamily="34" charset="-122"/>
                <a:cs typeface="Georgia" pitchFamily="34" charset="-120"/>
              </a:rPr>
              <a:t>Le fil rouge : un site qui vit sans informaticien.</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85800" y="411480"/>
            <a:ext cx="2169871" cy="329184"/>
          </a:xfrm>
          <a:prstGeom prst="roundRect">
            <a:avLst>
              <a:gd name="adj" fmla="val 50000"/>
            </a:avLst>
          </a:prstGeom>
          <a:solidFill>
            <a:srgbClr val="0B132B"/>
          </a:solidFill>
          <a:ln/>
          <a:effectLst>
            <a:outerShdw blurRad="203200" dist="63500" dir="5400000" algn="bl" rotWithShape="0">
              <a:srgbClr val="0B132B">
                <a:alpha val="10000"/>
              </a:srgbClr>
            </a:outerShdw>
          </a:effectLst>
        </p:spPr>
      </p:sp>
      <p:sp>
        <p:nvSpPr>
          <p:cNvPr id="3" name="Text 1"/>
          <p:cNvSpPr/>
          <p:nvPr/>
        </p:nvSpPr>
        <p:spPr>
          <a:xfrm>
            <a:off x="685800" y="411480"/>
            <a:ext cx="2169871" cy="329184"/>
          </a:xfrm>
          <a:prstGeom prst="rect">
            <a:avLst/>
          </a:prstGeom>
          <a:noFill/>
          <a:ln/>
        </p:spPr>
        <p:txBody>
          <a:bodyPr wrap="square" lIns="0" tIns="0" rIns="0" bIns="0" rtlCol="0" anchor="ctr"/>
          <a:lstStyle/>
          <a:p>
            <a:pPr marL="0" indent="0" algn="ctr">
              <a:buNone/>
            </a:pPr>
            <a:r>
              <a:rPr lang="en-US" sz="1050" b="1" kern="0" spc="200" dirty="0">
                <a:solidFill>
                  <a:srgbClr val="FFFFFF"/>
                </a:solidFill>
                <a:latin typeface="Calibri" pitchFamily="34" charset="0"/>
                <a:ea typeface="Calibri" pitchFamily="34" charset="-122"/>
                <a:cs typeface="Calibri" pitchFamily="34" charset="-120"/>
              </a:rPr>
              <a:t>LA CONDUITE DU PROJET</a:t>
            </a:r>
            <a:endParaRPr lang="en-US" sz="1050" dirty="0"/>
          </a:p>
        </p:txBody>
      </p:sp>
      <p:sp>
        <p:nvSpPr>
          <p:cNvPr id="4" name="Text 2"/>
          <p:cNvSpPr/>
          <p:nvPr/>
        </p:nvSpPr>
        <p:spPr>
          <a:xfrm>
            <a:off x="658368" y="786384"/>
            <a:ext cx="10881360" cy="713232"/>
          </a:xfrm>
          <a:prstGeom prst="rect">
            <a:avLst/>
          </a:prstGeom>
          <a:noFill/>
          <a:ln/>
        </p:spPr>
        <p:txBody>
          <a:bodyPr wrap="square" lIns="0" tIns="0" rIns="0" bIns="0" rtlCol="0" anchor="ctr"/>
          <a:lstStyle/>
          <a:p>
            <a:pPr marL="0" indent="0">
              <a:buNone/>
            </a:pPr>
            <a:r>
              <a:rPr lang="en-US" sz="3000" b="1" i="1" dirty="0">
                <a:solidFill>
                  <a:srgbClr val="0B132B"/>
                </a:solidFill>
                <a:latin typeface="Georgia" pitchFamily="34" charset="0"/>
                <a:ea typeface="Georgia" pitchFamily="34" charset="-122"/>
                <a:cs typeface="Georgia" pitchFamily="34" charset="-120"/>
              </a:rPr>
              <a:t>Le tournant du 18 juin</a:t>
            </a:r>
            <a:endParaRPr lang="en-US" sz="3000" dirty="0"/>
          </a:p>
        </p:txBody>
      </p:sp>
      <p:sp>
        <p:nvSpPr>
          <p:cNvPr id="5" name="Shape 3"/>
          <p:cNvSpPr/>
          <p:nvPr/>
        </p:nvSpPr>
        <p:spPr>
          <a:xfrm>
            <a:off x="1051560" y="2788920"/>
            <a:ext cx="9966960" cy="0"/>
          </a:xfrm>
          <a:prstGeom prst="line">
            <a:avLst/>
          </a:prstGeom>
          <a:noFill/>
          <a:ln w="31750">
            <a:solidFill>
              <a:srgbClr val="CBD3DE"/>
            </a:solidFill>
            <a:prstDash val="solid"/>
          </a:ln>
        </p:spPr>
      </p:sp>
      <p:sp>
        <p:nvSpPr>
          <p:cNvPr id="6" name="Shape 4"/>
          <p:cNvSpPr/>
          <p:nvPr/>
        </p:nvSpPr>
        <p:spPr>
          <a:xfrm>
            <a:off x="914400" y="2651760"/>
            <a:ext cx="274320" cy="274320"/>
          </a:xfrm>
          <a:prstGeom prst="ellipse">
            <a:avLst/>
          </a:prstGeom>
          <a:solidFill>
            <a:srgbClr val="FFFFFF"/>
          </a:solidFill>
          <a:ln w="19050">
            <a:solidFill>
              <a:srgbClr val="9098A8"/>
            </a:solidFill>
            <a:prstDash val="solid"/>
          </a:ln>
        </p:spPr>
      </p:sp>
      <p:sp>
        <p:nvSpPr>
          <p:cNvPr id="7" name="Text 5"/>
          <p:cNvSpPr/>
          <p:nvPr/>
        </p:nvSpPr>
        <p:spPr>
          <a:xfrm>
            <a:off x="91440" y="2103120"/>
            <a:ext cx="1920240" cy="365760"/>
          </a:xfrm>
          <a:prstGeom prst="rect">
            <a:avLst/>
          </a:prstGeom>
          <a:noFill/>
          <a:ln/>
        </p:spPr>
        <p:txBody>
          <a:bodyPr wrap="square" lIns="0" tIns="0" rIns="0" bIns="0" rtlCol="0" anchor="ctr"/>
          <a:lstStyle/>
          <a:p>
            <a:pPr marL="0" indent="0" algn="ctr">
              <a:buNone/>
            </a:pPr>
            <a:r>
              <a:rPr lang="en-US" sz="1300" b="1" dirty="0">
                <a:solidFill>
                  <a:srgbClr val="475569"/>
                </a:solidFill>
                <a:latin typeface="Calibri" pitchFamily="34" charset="0"/>
                <a:ea typeface="Calibri" pitchFamily="34" charset="-122"/>
                <a:cs typeface="Calibri" pitchFamily="34" charset="-120"/>
              </a:rPr>
              <a:t>8 juin</a:t>
            </a:r>
            <a:endParaRPr lang="en-US" sz="1300" dirty="0"/>
          </a:p>
        </p:txBody>
      </p:sp>
      <p:sp>
        <p:nvSpPr>
          <p:cNvPr id="8" name="Text 6"/>
          <p:cNvSpPr/>
          <p:nvPr/>
        </p:nvSpPr>
        <p:spPr>
          <a:xfrm>
            <a:off x="27432" y="3044952"/>
            <a:ext cx="2048256" cy="1188720"/>
          </a:xfrm>
          <a:prstGeom prst="rect">
            <a:avLst/>
          </a:prstGeom>
          <a:noFill/>
          <a:ln/>
        </p:spPr>
        <p:txBody>
          <a:bodyPr wrap="square" lIns="0" tIns="0" rIns="0" bIns="0" rtlCol="0" anchor="t"/>
          <a:lstStyle/>
          <a:p>
            <a:pPr marL="0" indent="0" algn="ctr">
              <a:buNone/>
            </a:pPr>
            <a:r>
              <a:rPr lang="en-US" sz="1300" b="1" dirty="0">
                <a:solidFill>
                  <a:srgbClr val="0B132B"/>
                </a:solidFill>
                <a:latin typeface="Calibri" pitchFamily="34" charset="0"/>
                <a:ea typeface="Calibri" pitchFamily="34" charset="-122"/>
                <a:cs typeface="Calibri" pitchFamily="34" charset="-120"/>
              </a:rPr>
              <a:t>Base du site V1
</a:t>
            </a:r>
            <a:endParaRPr lang="en-US" sz="1300" dirty="0"/>
          </a:p>
          <a:p>
            <a:pPr marL="0" indent="0" algn="ctr">
              <a:buNone/>
            </a:pPr>
            <a:r>
              <a:rPr lang="en-US" sz="1100" dirty="0">
                <a:solidFill>
                  <a:srgbClr val="475569"/>
                </a:solidFill>
                <a:latin typeface="Calibri" pitchFamily="34" charset="0"/>
                <a:ea typeface="Calibri" pitchFamily="34" charset="-122"/>
                <a:cs typeface="Calibri" pitchFamily="34" charset="-120"/>
              </a:rPr>
              <a:t>un compromis design</a:t>
            </a:r>
            <a:endParaRPr lang="en-US" sz="1300" dirty="0"/>
          </a:p>
        </p:txBody>
      </p:sp>
      <p:sp>
        <p:nvSpPr>
          <p:cNvPr id="9" name="Shape 7"/>
          <p:cNvSpPr/>
          <p:nvPr/>
        </p:nvSpPr>
        <p:spPr>
          <a:xfrm>
            <a:off x="3406140" y="2651760"/>
            <a:ext cx="274320" cy="274320"/>
          </a:xfrm>
          <a:prstGeom prst="ellipse">
            <a:avLst/>
          </a:prstGeom>
          <a:solidFill>
            <a:srgbClr val="0B132B"/>
          </a:solidFill>
          <a:ln w="19050">
            <a:solidFill>
              <a:srgbClr val="0B132B"/>
            </a:solidFill>
            <a:prstDash val="solid"/>
          </a:ln>
          <a:effectLst>
            <a:outerShdw blurRad="203200" dist="63500" dir="5400000" algn="bl" rotWithShape="0">
              <a:srgbClr val="0B132B">
                <a:alpha val="10000"/>
              </a:srgbClr>
            </a:outerShdw>
          </a:effectLst>
        </p:spPr>
      </p:sp>
      <p:sp>
        <p:nvSpPr>
          <p:cNvPr id="10" name="Text 8"/>
          <p:cNvSpPr/>
          <p:nvPr/>
        </p:nvSpPr>
        <p:spPr>
          <a:xfrm>
            <a:off x="2583180" y="2103120"/>
            <a:ext cx="1920240" cy="365760"/>
          </a:xfrm>
          <a:prstGeom prst="rect">
            <a:avLst/>
          </a:prstGeom>
          <a:noFill/>
          <a:ln/>
        </p:spPr>
        <p:txBody>
          <a:bodyPr wrap="square" lIns="0" tIns="0" rIns="0" bIns="0" rtlCol="0" anchor="ctr"/>
          <a:lstStyle/>
          <a:p>
            <a:pPr marL="0" indent="0" algn="ctr">
              <a:buNone/>
            </a:pPr>
            <a:r>
              <a:rPr lang="en-US" sz="1300" b="1" dirty="0">
                <a:solidFill>
                  <a:srgbClr val="0B132B"/>
                </a:solidFill>
                <a:latin typeface="Calibri" pitchFamily="34" charset="0"/>
                <a:ea typeface="Calibri" pitchFamily="34" charset="-122"/>
                <a:cs typeface="Calibri" pitchFamily="34" charset="-120"/>
              </a:rPr>
              <a:t>18 juin</a:t>
            </a:r>
            <a:endParaRPr lang="en-US" sz="1300" dirty="0"/>
          </a:p>
        </p:txBody>
      </p:sp>
      <p:sp>
        <p:nvSpPr>
          <p:cNvPr id="11" name="Text 9"/>
          <p:cNvSpPr/>
          <p:nvPr/>
        </p:nvSpPr>
        <p:spPr>
          <a:xfrm>
            <a:off x="2519172" y="3044952"/>
            <a:ext cx="2048256" cy="1188720"/>
          </a:xfrm>
          <a:prstGeom prst="rect">
            <a:avLst/>
          </a:prstGeom>
          <a:noFill/>
          <a:ln/>
        </p:spPr>
        <p:txBody>
          <a:bodyPr wrap="square" lIns="0" tIns="0" rIns="0" bIns="0" rtlCol="0" anchor="t"/>
          <a:lstStyle/>
          <a:p>
            <a:pPr marL="0" indent="0" algn="ctr">
              <a:buNone/>
            </a:pPr>
            <a:r>
              <a:rPr lang="en-US" sz="1300" b="1" dirty="0">
                <a:solidFill>
                  <a:srgbClr val="0B132B"/>
                </a:solidFill>
                <a:latin typeface="Calibri" pitchFamily="34" charset="0"/>
                <a:ea typeface="Calibri" pitchFamily="34" charset="-122"/>
                <a:cs typeface="Calibri" pitchFamily="34" charset="-120"/>
              </a:rPr>
              <a:t>La décision
</a:t>
            </a:r>
            <a:endParaRPr lang="en-US" sz="1300" dirty="0"/>
          </a:p>
          <a:p>
            <a:pPr marL="0" indent="0" algn="ctr">
              <a:buNone/>
            </a:pPr>
            <a:r>
              <a:rPr lang="en-US" sz="1100" dirty="0">
                <a:solidFill>
                  <a:srgbClr val="475569"/>
                </a:solidFill>
                <a:latin typeface="Calibri" pitchFamily="34" charset="0"/>
                <a:ea typeface="Calibri" pitchFamily="34" charset="-122"/>
                <a:cs typeface="Calibri" pitchFamily="34" charset="-120"/>
              </a:rPr>
              <a:t>j'ai demandé de trancher :</a:t>
            </a:r>
            <a:endParaRPr lang="en-US" sz="1300" dirty="0"/>
          </a:p>
          <a:p>
            <a:pPr marL="0" indent="0" algn="ctr">
              <a:buNone/>
            </a:pPr>
            <a:r>
              <a:rPr lang="en-US" sz="1100" dirty="0">
                <a:solidFill>
                  <a:srgbClr val="475569"/>
                </a:solidFill>
                <a:latin typeface="Calibri" pitchFamily="34" charset="0"/>
                <a:ea typeface="Calibri" pitchFamily="34" charset="-122"/>
                <a:cs typeface="Calibri" pitchFamily="34" charset="-120"/>
              </a:rPr>
              <a:t>tout reprendre</a:t>
            </a:r>
            <a:endParaRPr lang="en-US" sz="1300" dirty="0"/>
          </a:p>
        </p:txBody>
      </p:sp>
      <p:sp>
        <p:nvSpPr>
          <p:cNvPr id="12" name="Shape 10"/>
          <p:cNvSpPr/>
          <p:nvPr/>
        </p:nvSpPr>
        <p:spPr>
          <a:xfrm>
            <a:off x="5897880" y="2651760"/>
            <a:ext cx="274320" cy="274320"/>
          </a:xfrm>
          <a:prstGeom prst="ellipse">
            <a:avLst/>
          </a:prstGeom>
          <a:solidFill>
            <a:srgbClr val="FFFFFF"/>
          </a:solidFill>
          <a:ln w="19050">
            <a:solidFill>
              <a:srgbClr val="9098A8"/>
            </a:solidFill>
            <a:prstDash val="solid"/>
          </a:ln>
        </p:spPr>
      </p:sp>
      <p:sp>
        <p:nvSpPr>
          <p:cNvPr id="13" name="Text 11"/>
          <p:cNvSpPr/>
          <p:nvPr/>
        </p:nvSpPr>
        <p:spPr>
          <a:xfrm>
            <a:off x="5074920" y="2103120"/>
            <a:ext cx="1920240" cy="365760"/>
          </a:xfrm>
          <a:prstGeom prst="rect">
            <a:avLst/>
          </a:prstGeom>
          <a:noFill/>
          <a:ln/>
        </p:spPr>
        <p:txBody>
          <a:bodyPr wrap="square" lIns="0" tIns="0" rIns="0" bIns="0" rtlCol="0" anchor="ctr"/>
          <a:lstStyle/>
          <a:p>
            <a:pPr marL="0" indent="0" algn="ctr">
              <a:buNone/>
            </a:pPr>
            <a:r>
              <a:rPr lang="en-US" sz="1300" b="1" dirty="0">
                <a:solidFill>
                  <a:srgbClr val="475569"/>
                </a:solidFill>
                <a:latin typeface="Calibri" pitchFamily="34" charset="0"/>
                <a:ea typeface="Calibri" pitchFamily="34" charset="-122"/>
                <a:cs typeface="Calibri" pitchFamily="34" charset="-120"/>
              </a:rPr>
              <a:t>22-26 juin</a:t>
            </a:r>
            <a:endParaRPr lang="en-US" sz="1300" dirty="0"/>
          </a:p>
        </p:txBody>
      </p:sp>
      <p:sp>
        <p:nvSpPr>
          <p:cNvPr id="14" name="Text 12"/>
          <p:cNvSpPr/>
          <p:nvPr/>
        </p:nvSpPr>
        <p:spPr>
          <a:xfrm>
            <a:off x="5010912" y="3044952"/>
            <a:ext cx="2048256" cy="1188720"/>
          </a:xfrm>
          <a:prstGeom prst="rect">
            <a:avLst/>
          </a:prstGeom>
          <a:noFill/>
          <a:ln/>
        </p:spPr>
        <p:txBody>
          <a:bodyPr wrap="square" lIns="0" tIns="0" rIns="0" bIns="0" rtlCol="0" anchor="t"/>
          <a:lstStyle/>
          <a:p>
            <a:pPr marL="0" indent="0" algn="ctr">
              <a:buNone/>
            </a:pPr>
            <a:r>
              <a:rPr lang="en-US" sz="1300" b="1" dirty="0">
                <a:solidFill>
                  <a:srgbClr val="0B132B"/>
                </a:solidFill>
                <a:latin typeface="Calibri" pitchFamily="34" charset="0"/>
                <a:ea typeface="Calibri" pitchFamily="34" charset="-122"/>
                <a:cs typeface="Calibri" pitchFamily="34" charset="-120"/>
              </a:rPr>
              <a:t>Les modèles
</a:t>
            </a:r>
            <a:endParaRPr lang="en-US" sz="1300" dirty="0"/>
          </a:p>
          <a:p>
            <a:pPr marL="0" indent="0" algn="ctr">
              <a:buNone/>
            </a:pPr>
            <a:r>
              <a:rPr lang="en-US" sz="1100" dirty="0">
                <a:solidFill>
                  <a:srgbClr val="475569"/>
                </a:solidFill>
                <a:latin typeface="Calibri" pitchFamily="34" charset="0"/>
                <a:ea typeface="Calibri" pitchFamily="34" charset="-122"/>
                <a:cs typeface="Calibri" pitchFamily="34" charset="-120"/>
              </a:rPr>
              <a:t>validés par le maire</a:t>
            </a:r>
            <a:endParaRPr lang="en-US" sz="1300" dirty="0"/>
          </a:p>
        </p:txBody>
      </p:sp>
      <p:sp>
        <p:nvSpPr>
          <p:cNvPr id="15" name="Shape 13"/>
          <p:cNvSpPr/>
          <p:nvPr/>
        </p:nvSpPr>
        <p:spPr>
          <a:xfrm>
            <a:off x="8389620" y="2651760"/>
            <a:ext cx="274320" cy="274320"/>
          </a:xfrm>
          <a:prstGeom prst="ellipse">
            <a:avLst/>
          </a:prstGeom>
          <a:solidFill>
            <a:srgbClr val="FFFFFF"/>
          </a:solidFill>
          <a:ln w="19050">
            <a:solidFill>
              <a:srgbClr val="9098A8"/>
            </a:solidFill>
            <a:prstDash val="solid"/>
          </a:ln>
        </p:spPr>
      </p:sp>
      <p:sp>
        <p:nvSpPr>
          <p:cNvPr id="16" name="Text 14"/>
          <p:cNvSpPr/>
          <p:nvPr/>
        </p:nvSpPr>
        <p:spPr>
          <a:xfrm>
            <a:off x="7566660" y="2103120"/>
            <a:ext cx="1920240" cy="365760"/>
          </a:xfrm>
          <a:prstGeom prst="rect">
            <a:avLst/>
          </a:prstGeom>
          <a:noFill/>
          <a:ln/>
        </p:spPr>
        <p:txBody>
          <a:bodyPr wrap="square" lIns="0" tIns="0" rIns="0" bIns="0" rtlCol="0" anchor="ctr"/>
          <a:lstStyle/>
          <a:p>
            <a:pPr marL="0" indent="0" algn="ctr">
              <a:buNone/>
            </a:pPr>
            <a:r>
              <a:rPr lang="en-US" sz="1300" b="1" dirty="0">
                <a:solidFill>
                  <a:srgbClr val="475569"/>
                </a:solidFill>
                <a:latin typeface="Calibri" pitchFamily="34" charset="0"/>
                <a:ea typeface="Calibri" pitchFamily="34" charset="-122"/>
                <a:cs typeface="Calibri" pitchFamily="34" charset="-120"/>
              </a:rPr>
              <a:t>30 juin</a:t>
            </a:r>
            <a:endParaRPr lang="en-US" sz="1300" dirty="0"/>
          </a:p>
        </p:txBody>
      </p:sp>
      <p:sp>
        <p:nvSpPr>
          <p:cNvPr id="17" name="Text 15"/>
          <p:cNvSpPr/>
          <p:nvPr/>
        </p:nvSpPr>
        <p:spPr>
          <a:xfrm>
            <a:off x="7502652" y="3044952"/>
            <a:ext cx="2048256" cy="1188720"/>
          </a:xfrm>
          <a:prstGeom prst="rect">
            <a:avLst/>
          </a:prstGeom>
          <a:noFill/>
          <a:ln/>
        </p:spPr>
        <p:txBody>
          <a:bodyPr wrap="square" lIns="0" tIns="0" rIns="0" bIns="0" rtlCol="0" anchor="t"/>
          <a:lstStyle/>
          <a:p>
            <a:pPr marL="0" indent="0" algn="ctr">
              <a:buNone/>
            </a:pPr>
            <a:r>
              <a:rPr lang="en-US" sz="1300" b="1" dirty="0">
                <a:solidFill>
                  <a:srgbClr val="0B132B"/>
                </a:solidFill>
                <a:latin typeface="Calibri" pitchFamily="34" charset="0"/>
                <a:ea typeface="Calibri" pitchFamily="34" charset="-122"/>
                <a:cs typeface="Calibri" pitchFamily="34" charset="-120"/>
              </a:rPr>
              <a:t>Validation
</a:t>
            </a:r>
            <a:endParaRPr lang="en-US" sz="1300" dirty="0"/>
          </a:p>
          <a:p>
            <a:pPr marL="0" indent="0" algn="ctr">
              <a:buNone/>
            </a:pPr>
            <a:r>
              <a:rPr lang="en-US" sz="1100" dirty="0">
                <a:solidFill>
                  <a:srgbClr val="475569"/>
                </a:solidFill>
                <a:latin typeface="Calibri" pitchFamily="34" charset="0"/>
                <a:ea typeface="Calibri" pitchFamily="34" charset="-122"/>
                <a:cs typeface="Calibri" pitchFamily="34" charset="-120"/>
              </a:rPr>
              <a:t>par le comité</a:t>
            </a:r>
            <a:endParaRPr lang="en-US" sz="1300" dirty="0"/>
          </a:p>
          <a:p>
            <a:pPr marL="0" indent="0" algn="ctr">
              <a:buNone/>
            </a:pPr>
            <a:r>
              <a:rPr lang="en-US" sz="1100" dirty="0">
                <a:solidFill>
                  <a:srgbClr val="475569"/>
                </a:solidFill>
                <a:latin typeface="Calibri" pitchFamily="34" charset="0"/>
                <a:ea typeface="Calibri" pitchFamily="34" charset="-122"/>
                <a:cs typeface="Calibri" pitchFamily="34" charset="-120"/>
              </a:rPr>
              <a:t>de communication</a:t>
            </a:r>
            <a:endParaRPr lang="en-US" sz="1300" dirty="0"/>
          </a:p>
        </p:txBody>
      </p:sp>
      <p:sp>
        <p:nvSpPr>
          <p:cNvPr id="18" name="Shape 16"/>
          <p:cNvSpPr/>
          <p:nvPr/>
        </p:nvSpPr>
        <p:spPr>
          <a:xfrm>
            <a:off x="10881360" y="2651760"/>
            <a:ext cx="274320" cy="274320"/>
          </a:xfrm>
          <a:prstGeom prst="ellipse">
            <a:avLst/>
          </a:prstGeom>
          <a:solidFill>
            <a:srgbClr val="0B132B"/>
          </a:solidFill>
          <a:ln w="19050">
            <a:solidFill>
              <a:srgbClr val="0B132B"/>
            </a:solidFill>
            <a:prstDash val="solid"/>
          </a:ln>
          <a:effectLst>
            <a:outerShdw blurRad="203200" dist="63500" dir="5400000" algn="bl" rotWithShape="0">
              <a:srgbClr val="0B132B">
                <a:alpha val="10000"/>
              </a:srgbClr>
            </a:outerShdw>
          </a:effectLst>
        </p:spPr>
      </p:sp>
      <p:sp>
        <p:nvSpPr>
          <p:cNvPr id="19" name="Text 17"/>
          <p:cNvSpPr/>
          <p:nvPr/>
        </p:nvSpPr>
        <p:spPr>
          <a:xfrm>
            <a:off x="10058400" y="2103120"/>
            <a:ext cx="1920240" cy="365760"/>
          </a:xfrm>
          <a:prstGeom prst="rect">
            <a:avLst/>
          </a:prstGeom>
          <a:noFill/>
          <a:ln/>
        </p:spPr>
        <p:txBody>
          <a:bodyPr wrap="square" lIns="0" tIns="0" rIns="0" bIns="0" rtlCol="0" anchor="ctr"/>
          <a:lstStyle/>
          <a:p>
            <a:pPr marL="0" indent="0" algn="ctr">
              <a:buNone/>
            </a:pPr>
            <a:r>
              <a:rPr lang="en-US" sz="1300" b="1" dirty="0">
                <a:solidFill>
                  <a:srgbClr val="0B132B"/>
                </a:solidFill>
                <a:latin typeface="Calibri" pitchFamily="34" charset="0"/>
                <a:ea typeface="Calibri" pitchFamily="34" charset="-122"/>
                <a:cs typeface="Calibri" pitchFamily="34" charset="-120"/>
              </a:rPr>
              <a:t>2 juillet</a:t>
            </a:r>
            <a:endParaRPr lang="en-US" sz="1300" dirty="0"/>
          </a:p>
        </p:txBody>
      </p:sp>
      <p:sp>
        <p:nvSpPr>
          <p:cNvPr id="20" name="Text 18"/>
          <p:cNvSpPr/>
          <p:nvPr/>
        </p:nvSpPr>
        <p:spPr>
          <a:xfrm>
            <a:off x="9994392" y="3044952"/>
            <a:ext cx="2048256" cy="1188720"/>
          </a:xfrm>
          <a:prstGeom prst="rect">
            <a:avLst/>
          </a:prstGeom>
          <a:noFill/>
          <a:ln/>
        </p:spPr>
        <p:txBody>
          <a:bodyPr wrap="square" lIns="0" tIns="0" rIns="0" bIns="0" rtlCol="0" anchor="t"/>
          <a:lstStyle/>
          <a:p>
            <a:pPr marL="0" indent="0" algn="ctr">
              <a:buNone/>
            </a:pPr>
            <a:r>
              <a:rPr lang="en-US" sz="1300" b="1" dirty="0">
                <a:solidFill>
                  <a:srgbClr val="0B132B"/>
                </a:solidFill>
                <a:latin typeface="Calibri" pitchFamily="34" charset="0"/>
                <a:ea typeface="Calibri" pitchFamily="34" charset="-122"/>
                <a:cs typeface="Calibri" pitchFamily="34" charset="-120"/>
              </a:rPr>
              <a:t>V1 fonctionnelle
</a:t>
            </a:r>
            <a:endParaRPr lang="en-US" sz="1300" dirty="0"/>
          </a:p>
          <a:p>
            <a:pPr marL="0" indent="0" algn="ctr">
              <a:buNone/>
            </a:pPr>
            <a:r>
              <a:rPr lang="en-US" sz="1100" dirty="0">
                <a:solidFill>
                  <a:srgbClr val="475569"/>
                </a:solidFill>
                <a:latin typeface="Calibri" pitchFamily="34" charset="0"/>
                <a:ea typeface="Calibri" pitchFamily="34" charset="-122"/>
                <a:cs typeface="Calibri" pitchFamily="34" charset="-120"/>
              </a:rPr>
              <a:t>livrée le dernier jour</a:t>
            </a:r>
            <a:endParaRPr lang="en-US" sz="1300" dirty="0"/>
          </a:p>
        </p:txBody>
      </p:sp>
      <p:sp>
        <p:nvSpPr>
          <p:cNvPr id="21" name="Shape 19"/>
          <p:cNvSpPr/>
          <p:nvPr/>
        </p:nvSpPr>
        <p:spPr>
          <a:xfrm>
            <a:off x="156151" y="3899471"/>
            <a:ext cx="5228174" cy="2883015"/>
          </a:xfrm>
          <a:prstGeom prst="roundRect">
            <a:avLst>
              <a:gd name="adj" fmla="val 5114"/>
            </a:avLst>
          </a:prstGeom>
          <a:solidFill>
            <a:schemeClr val="bg1">
              <a:lumMod val="95000"/>
            </a:schemeClr>
          </a:solidFill>
          <a:ln w="12700">
            <a:solidFill>
              <a:srgbClr val="E4E8F0"/>
            </a:solidFill>
            <a:prstDash val="solid"/>
          </a:ln>
          <a:effectLst>
            <a:outerShdw blurRad="203200" dist="63500" dir="5400000" algn="bl" rotWithShape="0">
              <a:srgbClr val="0B132B">
                <a:alpha val="10000"/>
              </a:srgbClr>
            </a:outerShdw>
          </a:effectLst>
        </p:spPr>
      </p:sp>
      <p:pic>
        <p:nvPicPr>
          <p:cNvPr id="22" name="Image 0" descr="/home/claude/site_v1.jpg"/>
          <p:cNvPicPr>
            <a:picLocks noChangeAspect="1"/>
          </p:cNvPicPr>
          <p:nvPr/>
        </p:nvPicPr>
        <p:blipFill>
          <a:blip r:embed="rId4"/>
          <a:stretch>
            <a:fillRect/>
          </a:stretch>
        </p:blipFill>
        <p:spPr>
          <a:xfrm>
            <a:off x="242081" y="3973018"/>
            <a:ext cx="5056315" cy="2742408"/>
          </a:xfrm>
          <a:prstGeom prst="rect">
            <a:avLst/>
          </a:prstGeom>
        </p:spPr>
      </p:pic>
      <p:sp>
        <p:nvSpPr>
          <p:cNvPr id="24" name="Shape 21"/>
          <p:cNvSpPr/>
          <p:nvPr/>
        </p:nvSpPr>
        <p:spPr>
          <a:xfrm>
            <a:off x="5567832" y="4998602"/>
            <a:ext cx="6514674" cy="868680"/>
          </a:xfrm>
          <a:prstGeom prst="roundRect">
            <a:avLst>
              <a:gd name="adj" fmla="val 10526"/>
            </a:avLst>
          </a:prstGeom>
          <a:solidFill>
            <a:srgbClr val="FFFFFF"/>
          </a:solidFill>
          <a:ln w="12700">
            <a:solidFill>
              <a:srgbClr val="E4E8F0"/>
            </a:solidFill>
            <a:prstDash val="solid"/>
          </a:ln>
          <a:effectLst>
            <a:outerShdw blurRad="203200" dist="63500" dir="5400000" algn="bl" rotWithShape="0">
              <a:srgbClr val="0B132B">
                <a:alpha val="10000"/>
              </a:srgbClr>
            </a:outerShdw>
          </a:effectLst>
        </p:spPr>
      </p:sp>
      <p:sp>
        <p:nvSpPr>
          <p:cNvPr id="25" name="Text 22"/>
          <p:cNvSpPr/>
          <p:nvPr/>
        </p:nvSpPr>
        <p:spPr>
          <a:xfrm>
            <a:off x="5384325" y="5080034"/>
            <a:ext cx="6974058" cy="737382"/>
          </a:xfrm>
          <a:prstGeom prst="rect">
            <a:avLst/>
          </a:prstGeom>
          <a:noFill/>
          <a:ln/>
        </p:spPr>
        <p:txBody>
          <a:bodyPr wrap="square" lIns="0" tIns="0" rIns="0" bIns="0" rtlCol="0" anchor="ctr"/>
          <a:lstStyle/>
          <a:p>
            <a:pPr marL="0" indent="0" algn="ctr">
              <a:buNone/>
            </a:pPr>
            <a:r>
              <a:rPr lang="en-US" sz="1600" b="1" i="1" dirty="0">
                <a:solidFill>
                  <a:srgbClr val="0B132B"/>
                </a:solidFill>
                <a:latin typeface="Georgia" pitchFamily="34" charset="0"/>
                <a:ea typeface="Georgia" pitchFamily="34" charset="-122"/>
                <a:cs typeface="Georgia" pitchFamily="34" charset="-120"/>
              </a:rPr>
              <a:t>La leçon : faire valider les modèles avant de développer.</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85800" y="411480"/>
            <a:ext cx="1489558" cy="329184"/>
          </a:xfrm>
          <a:prstGeom prst="roundRect">
            <a:avLst>
              <a:gd name="adj" fmla="val 50000"/>
            </a:avLst>
          </a:prstGeom>
          <a:solidFill>
            <a:srgbClr val="0B132B"/>
          </a:solidFill>
          <a:ln/>
          <a:effectLst>
            <a:outerShdw blurRad="203200" dist="63500" dir="5400000" algn="bl" rotWithShape="0">
              <a:srgbClr val="0B132B">
                <a:alpha val="10000"/>
              </a:srgbClr>
            </a:outerShdw>
          </a:effectLst>
        </p:spPr>
      </p:sp>
      <p:sp>
        <p:nvSpPr>
          <p:cNvPr id="3" name="Text 1"/>
          <p:cNvSpPr/>
          <p:nvPr/>
        </p:nvSpPr>
        <p:spPr>
          <a:xfrm>
            <a:off x="685800" y="411480"/>
            <a:ext cx="1489558" cy="329184"/>
          </a:xfrm>
          <a:prstGeom prst="rect">
            <a:avLst/>
          </a:prstGeom>
          <a:noFill/>
          <a:ln/>
        </p:spPr>
        <p:txBody>
          <a:bodyPr wrap="square" lIns="0" tIns="0" rIns="0" bIns="0" rtlCol="0" anchor="ctr"/>
          <a:lstStyle/>
          <a:p>
            <a:pPr marL="0" indent="0" algn="ctr">
              <a:buNone/>
            </a:pPr>
            <a:r>
              <a:rPr lang="en-US" sz="1050" b="1" kern="0" spc="200" dirty="0">
                <a:solidFill>
                  <a:srgbClr val="FFFFFF"/>
                </a:solidFill>
                <a:latin typeface="Calibri" pitchFamily="34" charset="0"/>
                <a:ea typeface="Calibri" pitchFamily="34" charset="-122"/>
                <a:cs typeface="Calibri" pitchFamily="34" charset="-120"/>
              </a:rPr>
              <a:t>LES LIVRABLES</a:t>
            </a:r>
            <a:endParaRPr lang="en-US" sz="1050" dirty="0"/>
          </a:p>
        </p:txBody>
      </p:sp>
      <p:sp>
        <p:nvSpPr>
          <p:cNvPr id="4" name="Text 2"/>
          <p:cNvSpPr/>
          <p:nvPr/>
        </p:nvSpPr>
        <p:spPr>
          <a:xfrm>
            <a:off x="658368" y="786384"/>
            <a:ext cx="10881360" cy="713232"/>
          </a:xfrm>
          <a:prstGeom prst="rect">
            <a:avLst/>
          </a:prstGeom>
          <a:noFill/>
          <a:ln/>
        </p:spPr>
        <p:txBody>
          <a:bodyPr wrap="square" lIns="0" tIns="0" rIns="0" bIns="0" rtlCol="0" anchor="ctr"/>
          <a:lstStyle/>
          <a:p>
            <a:pPr marL="0" indent="0">
              <a:buNone/>
            </a:pPr>
            <a:r>
              <a:rPr lang="en-US" sz="3000" b="1" i="1" dirty="0">
                <a:solidFill>
                  <a:srgbClr val="0B132B"/>
                </a:solidFill>
                <a:latin typeface="Georgia" pitchFamily="34" charset="0"/>
                <a:ea typeface="Georgia" pitchFamily="34" charset="-122"/>
                <a:cs typeface="Georgia" pitchFamily="34" charset="-120"/>
              </a:rPr>
              <a:t>Le site n'est pas seul</a:t>
            </a:r>
            <a:endParaRPr lang="en-US" sz="3000" dirty="0"/>
          </a:p>
        </p:txBody>
      </p:sp>
      <p:sp>
        <p:nvSpPr>
          <p:cNvPr id="5" name="Shape 3"/>
          <p:cNvSpPr/>
          <p:nvPr/>
        </p:nvSpPr>
        <p:spPr>
          <a:xfrm>
            <a:off x="685800" y="1783080"/>
            <a:ext cx="10881360" cy="960120"/>
          </a:xfrm>
          <a:prstGeom prst="roundRect">
            <a:avLst>
              <a:gd name="adj" fmla="val 9524"/>
            </a:avLst>
          </a:prstGeom>
          <a:solidFill>
            <a:srgbClr val="FFFFFF"/>
          </a:solidFill>
          <a:ln w="12700">
            <a:solidFill>
              <a:srgbClr val="E4E8F0"/>
            </a:solidFill>
            <a:prstDash val="solid"/>
          </a:ln>
          <a:effectLst>
            <a:outerShdw blurRad="203200" dist="63500" dir="5400000" algn="bl" rotWithShape="0">
              <a:srgbClr val="0B132B">
                <a:alpha val="10000"/>
              </a:srgbClr>
            </a:outerShdw>
          </a:effectLst>
        </p:spPr>
      </p:sp>
      <p:sp>
        <p:nvSpPr>
          <p:cNvPr id="6" name="Text 4"/>
          <p:cNvSpPr/>
          <p:nvPr/>
        </p:nvSpPr>
        <p:spPr>
          <a:xfrm>
            <a:off x="978408" y="1874520"/>
            <a:ext cx="10332720" cy="384048"/>
          </a:xfrm>
          <a:prstGeom prst="rect">
            <a:avLst/>
          </a:prstGeom>
          <a:noFill/>
          <a:ln/>
        </p:spPr>
        <p:txBody>
          <a:bodyPr wrap="square" lIns="0" tIns="0" rIns="0" bIns="0" rtlCol="0" anchor="ctr"/>
          <a:lstStyle/>
          <a:p>
            <a:pPr marL="0" indent="0">
              <a:buNone/>
            </a:pPr>
            <a:r>
              <a:rPr lang="en-US" sz="1550" b="1" dirty="0">
                <a:solidFill>
                  <a:srgbClr val="0B132B"/>
                </a:solidFill>
                <a:latin typeface="Calibri" pitchFamily="34" charset="0"/>
                <a:ea typeface="Calibri" pitchFamily="34" charset="-122"/>
                <a:cs typeface="Calibri" pitchFamily="34" charset="-120"/>
              </a:rPr>
              <a:t>Audit informatique et financier</a:t>
            </a:r>
            <a:endParaRPr lang="en-US" sz="1550" dirty="0"/>
          </a:p>
        </p:txBody>
      </p:sp>
      <p:sp>
        <p:nvSpPr>
          <p:cNvPr id="7" name="Text 5"/>
          <p:cNvSpPr/>
          <p:nvPr/>
        </p:nvSpPr>
        <p:spPr>
          <a:xfrm>
            <a:off x="978408" y="2258568"/>
            <a:ext cx="10332720" cy="393192"/>
          </a:xfrm>
          <a:prstGeom prst="rect">
            <a:avLst/>
          </a:prstGeom>
          <a:noFill/>
          <a:ln/>
        </p:spPr>
        <p:txBody>
          <a:bodyPr wrap="square" lIns="0" tIns="0" rIns="0" bIns="0" rtlCol="0" anchor="t"/>
          <a:lstStyle/>
          <a:p>
            <a:pPr marL="0" indent="0">
              <a:lnSpc>
                <a:spcPct val="105000"/>
              </a:lnSpc>
              <a:buNone/>
            </a:pPr>
            <a:r>
              <a:rPr lang="en-US" sz="1250" dirty="0">
                <a:solidFill>
                  <a:srgbClr val="475569"/>
                </a:solidFill>
                <a:latin typeface="Calibri" pitchFamily="34" charset="0"/>
                <a:ea typeface="Calibri" pitchFamily="34" charset="-122"/>
                <a:cs typeface="Calibri" pitchFamily="34" charset="-120"/>
              </a:rPr>
              <a:t>23 000 € de contrats analysés ligne par ligne, environ 13 500 € d'économies identifiées, rapport validé par le maire.</a:t>
            </a:r>
            <a:endParaRPr lang="en-US" sz="1250" dirty="0"/>
          </a:p>
        </p:txBody>
      </p:sp>
      <p:sp>
        <p:nvSpPr>
          <p:cNvPr id="8" name="Shape 6"/>
          <p:cNvSpPr/>
          <p:nvPr/>
        </p:nvSpPr>
        <p:spPr>
          <a:xfrm>
            <a:off x="685800" y="2898648"/>
            <a:ext cx="10881360" cy="960120"/>
          </a:xfrm>
          <a:prstGeom prst="roundRect">
            <a:avLst>
              <a:gd name="adj" fmla="val 9524"/>
            </a:avLst>
          </a:prstGeom>
          <a:solidFill>
            <a:srgbClr val="FFFFFF"/>
          </a:solidFill>
          <a:ln w="12700">
            <a:solidFill>
              <a:srgbClr val="E4E8F0"/>
            </a:solidFill>
            <a:prstDash val="solid"/>
          </a:ln>
          <a:effectLst>
            <a:outerShdw blurRad="203200" dist="63500" dir="5400000" algn="bl" rotWithShape="0">
              <a:srgbClr val="0B132B">
                <a:alpha val="10000"/>
              </a:srgbClr>
            </a:outerShdw>
          </a:effectLst>
        </p:spPr>
      </p:sp>
      <p:sp>
        <p:nvSpPr>
          <p:cNvPr id="9" name="Text 7"/>
          <p:cNvSpPr/>
          <p:nvPr/>
        </p:nvSpPr>
        <p:spPr>
          <a:xfrm>
            <a:off x="978408" y="2990088"/>
            <a:ext cx="10332720" cy="384048"/>
          </a:xfrm>
          <a:prstGeom prst="rect">
            <a:avLst/>
          </a:prstGeom>
          <a:noFill/>
          <a:ln/>
        </p:spPr>
        <p:txBody>
          <a:bodyPr wrap="square" lIns="0" tIns="0" rIns="0" bIns="0" rtlCol="0" anchor="ctr"/>
          <a:lstStyle/>
          <a:p>
            <a:pPr marL="0" indent="0">
              <a:buNone/>
            </a:pPr>
            <a:r>
              <a:rPr lang="en-US" sz="1550" b="1" dirty="0">
                <a:solidFill>
                  <a:srgbClr val="0B132B"/>
                </a:solidFill>
                <a:latin typeface="Calibri" pitchFamily="34" charset="0"/>
                <a:ea typeface="Calibri" pitchFamily="34" charset="-122"/>
                <a:cs typeface="Calibri" pitchFamily="34" charset="-120"/>
              </a:rPr>
              <a:t>Signatures électroniques</a:t>
            </a:r>
            <a:endParaRPr lang="en-US" sz="1550" dirty="0"/>
          </a:p>
        </p:txBody>
      </p:sp>
      <p:sp>
        <p:nvSpPr>
          <p:cNvPr id="10" name="Text 8"/>
          <p:cNvSpPr/>
          <p:nvPr/>
        </p:nvSpPr>
        <p:spPr>
          <a:xfrm>
            <a:off x="978408" y="3374136"/>
            <a:ext cx="10332720" cy="393192"/>
          </a:xfrm>
          <a:prstGeom prst="rect">
            <a:avLst/>
          </a:prstGeom>
          <a:noFill/>
          <a:ln/>
        </p:spPr>
        <p:txBody>
          <a:bodyPr wrap="square" lIns="0" tIns="0" rIns="0" bIns="0" rtlCol="0" anchor="t"/>
          <a:lstStyle/>
          <a:p>
            <a:pPr marL="0" indent="0">
              <a:lnSpc>
                <a:spcPct val="105000"/>
              </a:lnSpc>
              <a:buNone/>
            </a:pPr>
            <a:r>
              <a:rPr lang="en-US" sz="1250" dirty="0">
                <a:solidFill>
                  <a:srgbClr val="475569"/>
                </a:solidFill>
                <a:latin typeface="Calibri" pitchFamily="34" charset="0"/>
                <a:ea typeface="Calibri" pitchFamily="34" charset="-122"/>
                <a:cs typeface="Calibri" pitchFamily="34" charset="-120"/>
              </a:rPr>
              <a:t>Harmonisées et déployées dans tous les services de la mairie.</a:t>
            </a:r>
            <a:endParaRPr lang="en-US" sz="1250" dirty="0"/>
          </a:p>
        </p:txBody>
      </p:sp>
      <p:sp>
        <p:nvSpPr>
          <p:cNvPr id="11" name="Shape 9"/>
          <p:cNvSpPr/>
          <p:nvPr/>
        </p:nvSpPr>
        <p:spPr>
          <a:xfrm>
            <a:off x="685800" y="4014216"/>
            <a:ext cx="10881360" cy="960120"/>
          </a:xfrm>
          <a:prstGeom prst="roundRect">
            <a:avLst>
              <a:gd name="adj" fmla="val 9524"/>
            </a:avLst>
          </a:prstGeom>
          <a:solidFill>
            <a:srgbClr val="FFFFFF"/>
          </a:solidFill>
          <a:ln w="12700">
            <a:solidFill>
              <a:srgbClr val="E4E8F0"/>
            </a:solidFill>
            <a:prstDash val="solid"/>
          </a:ln>
          <a:effectLst>
            <a:outerShdw blurRad="203200" dist="63500" dir="5400000" algn="bl" rotWithShape="0">
              <a:srgbClr val="0B132B">
                <a:alpha val="10000"/>
              </a:srgbClr>
            </a:outerShdw>
          </a:effectLst>
        </p:spPr>
      </p:sp>
      <p:sp>
        <p:nvSpPr>
          <p:cNvPr id="12" name="Text 10"/>
          <p:cNvSpPr/>
          <p:nvPr/>
        </p:nvSpPr>
        <p:spPr>
          <a:xfrm>
            <a:off x="978408" y="4105656"/>
            <a:ext cx="10332720" cy="384048"/>
          </a:xfrm>
          <a:prstGeom prst="rect">
            <a:avLst/>
          </a:prstGeom>
          <a:noFill/>
          <a:ln/>
        </p:spPr>
        <p:txBody>
          <a:bodyPr wrap="square" lIns="0" tIns="0" rIns="0" bIns="0" rtlCol="0" anchor="ctr"/>
          <a:lstStyle/>
          <a:p>
            <a:pPr marL="0" indent="0">
              <a:buNone/>
            </a:pPr>
            <a:r>
              <a:rPr lang="en-US" sz="1550" b="1" dirty="0">
                <a:solidFill>
                  <a:srgbClr val="0B132B"/>
                </a:solidFill>
                <a:latin typeface="Calibri" pitchFamily="34" charset="0"/>
                <a:ea typeface="Calibri" pitchFamily="34" charset="-122"/>
                <a:cs typeface="Calibri" pitchFamily="34" charset="-120"/>
              </a:rPr>
              <a:t>Documentations</a:t>
            </a:r>
            <a:endParaRPr lang="en-US" sz="1550" dirty="0"/>
          </a:p>
        </p:txBody>
      </p:sp>
      <p:sp>
        <p:nvSpPr>
          <p:cNvPr id="13" name="Text 11"/>
          <p:cNvSpPr/>
          <p:nvPr/>
        </p:nvSpPr>
        <p:spPr>
          <a:xfrm>
            <a:off x="978408" y="4489704"/>
            <a:ext cx="10332720" cy="393192"/>
          </a:xfrm>
          <a:prstGeom prst="rect">
            <a:avLst/>
          </a:prstGeom>
          <a:noFill/>
          <a:ln/>
        </p:spPr>
        <p:txBody>
          <a:bodyPr wrap="square" lIns="0" tIns="0" rIns="0" bIns="0" rtlCol="0" anchor="t"/>
          <a:lstStyle/>
          <a:p>
            <a:pPr marL="0" indent="0">
              <a:lnSpc>
                <a:spcPct val="105000"/>
              </a:lnSpc>
              <a:buNone/>
            </a:pPr>
            <a:r>
              <a:rPr lang="en-US" sz="1250" dirty="0">
                <a:solidFill>
                  <a:srgbClr val="475569"/>
                </a:solidFill>
                <a:latin typeface="Calibri" pitchFamily="34" charset="0"/>
                <a:ea typeface="Calibri" pitchFamily="34" charset="-122"/>
                <a:cs typeface="Calibri" pitchFamily="34" charset="-120"/>
              </a:rPr>
              <a:t>Technique pour la maintenance, utilisateur pour le personnel, avec un tutoriel guidé présenté le 2 juillet.</a:t>
            </a:r>
            <a:endParaRPr lang="en-US" sz="1250" dirty="0"/>
          </a:p>
        </p:txBody>
      </p:sp>
      <p:sp>
        <p:nvSpPr>
          <p:cNvPr id="14" name="Shape 12"/>
          <p:cNvSpPr/>
          <p:nvPr/>
        </p:nvSpPr>
        <p:spPr>
          <a:xfrm>
            <a:off x="685800" y="5129784"/>
            <a:ext cx="10881360" cy="960120"/>
          </a:xfrm>
          <a:prstGeom prst="roundRect">
            <a:avLst>
              <a:gd name="adj" fmla="val 9524"/>
            </a:avLst>
          </a:prstGeom>
          <a:solidFill>
            <a:srgbClr val="FFFFFF"/>
          </a:solidFill>
          <a:ln w="12700">
            <a:solidFill>
              <a:srgbClr val="E4E8F0"/>
            </a:solidFill>
            <a:prstDash val="solid"/>
          </a:ln>
          <a:effectLst>
            <a:outerShdw blurRad="203200" dist="63500" dir="5400000" algn="bl" rotWithShape="0">
              <a:srgbClr val="0B132B">
                <a:alpha val="10000"/>
              </a:srgbClr>
            </a:outerShdw>
          </a:effectLst>
        </p:spPr>
      </p:sp>
      <p:sp>
        <p:nvSpPr>
          <p:cNvPr id="15" name="Text 13"/>
          <p:cNvSpPr/>
          <p:nvPr/>
        </p:nvSpPr>
        <p:spPr>
          <a:xfrm>
            <a:off x="978408" y="5221224"/>
            <a:ext cx="10332720" cy="384048"/>
          </a:xfrm>
          <a:prstGeom prst="rect">
            <a:avLst/>
          </a:prstGeom>
          <a:noFill/>
          <a:ln/>
        </p:spPr>
        <p:txBody>
          <a:bodyPr wrap="square" lIns="0" tIns="0" rIns="0" bIns="0" rtlCol="0" anchor="ctr"/>
          <a:lstStyle/>
          <a:p>
            <a:pPr marL="0" indent="0">
              <a:buNone/>
            </a:pPr>
            <a:r>
              <a:rPr lang="en-US" sz="1550" b="1" dirty="0">
                <a:solidFill>
                  <a:srgbClr val="0B132B"/>
                </a:solidFill>
                <a:latin typeface="Calibri" pitchFamily="34" charset="0"/>
                <a:ea typeface="Calibri" pitchFamily="34" charset="-122"/>
                <a:cs typeface="Calibri" pitchFamily="34" charset="-120"/>
              </a:rPr>
              <a:t>Étude sur l'intelligence artificielle</a:t>
            </a:r>
            <a:endParaRPr lang="en-US" sz="1550" dirty="0"/>
          </a:p>
        </p:txBody>
      </p:sp>
      <p:sp>
        <p:nvSpPr>
          <p:cNvPr id="16" name="Text 14"/>
          <p:cNvSpPr/>
          <p:nvPr/>
        </p:nvSpPr>
        <p:spPr>
          <a:xfrm>
            <a:off x="978408" y="5605272"/>
            <a:ext cx="10332720" cy="393192"/>
          </a:xfrm>
          <a:prstGeom prst="rect">
            <a:avLst/>
          </a:prstGeom>
          <a:noFill/>
          <a:ln/>
        </p:spPr>
        <p:txBody>
          <a:bodyPr wrap="square" lIns="0" tIns="0" rIns="0" bIns="0" rtlCol="0" anchor="t"/>
          <a:lstStyle/>
          <a:p>
            <a:pPr marL="0" indent="0">
              <a:lnSpc>
                <a:spcPct val="105000"/>
              </a:lnSpc>
              <a:buNone/>
            </a:pPr>
            <a:r>
              <a:rPr lang="en-US" sz="1250" dirty="0">
                <a:solidFill>
                  <a:srgbClr val="475569"/>
                </a:solidFill>
                <a:latin typeface="Calibri" pitchFamily="34" charset="0"/>
                <a:ea typeface="Calibri" pitchFamily="34" charset="-122"/>
                <a:cs typeface="Calibri" pitchFamily="34" charset="-120"/>
              </a:rPr>
              <a:t>Cas d'usage pour la mairie, avec la confidentialité des données comme exigence centrale.</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85800" y="411480"/>
            <a:ext cx="1489558" cy="329184"/>
          </a:xfrm>
          <a:prstGeom prst="roundRect">
            <a:avLst>
              <a:gd name="adj" fmla="val 50000"/>
            </a:avLst>
          </a:prstGeom>
          <a:solidFill>
            <a:srgbClr val="0B132B"/>
          </a:solidFill>
          <a:ln/>
          <a:effectLst>
            <a:outerShdw blurRad="203200" dist="63500" dir="5400000" algn="bl" rotWithShape="0">
              <a:srgbClr val="0B132B">
                <a:alpha val="10000"/>
              </a:srgbClr>
            </a:outerShdw>
          </a:effectLst>
        </p:spPr>
      </p:sp>
      <p:sp>
        <p:nvSpPr>
          <p:cNvPr id="3" name="Text 1"/>
          <p:cNvSpPr/>
          <p:nvPr/>
        </p:nvSpPr>
        <p:spPr>
          <a:xfrm>
            <a:off x="685800" y="411480"/>
            <a:ext cx="1489558" cy="329184"/>
          </a:xfrm>
          <a:prstGeom prst="rect">
            <a:avLst/>
          </a:prstGeom>
          <a:noFill/>
          <a:ln/>
        </p:spPr>
        <p:txBody>
          <a:bodyPr wrap="square" lIns="0" tIns="0" rIns="0" bIns="0" rtlCol="0" anchor="ctr"/>
          <a:lstStyle/>
          <a:p>
            <a:pPr marL="0" indent="0" algn="ctr">
              <a:buNone/>
            </a:pPr>
            <a:r>
              <a:rPr lang="en-US" sz="1050" b="1" kern="0" spc="200" dirty="0">
                <a:solidFill>
                  <a:srgbClr val="FFFFFF"/>
                </a:solidFill>
                <a:latin typeface="Calibri" pitchFamily="34" charset="0"/>
                <a:ea typeface="Calibri" pitchFamily="34" charset="-122"/>
                <a:cs typeface="Calibri" pitchFamily="34" charset="-120"/>
              </a:rPr>
              <a:t>ET MAINTENANT</a:t>
            </a:r>
            <a:endParaRPr lang="en-US" sz="1050" dirty="0"/>
          </a:p>
        </p:txBody>
      </p:sp>
      <p:sp>
        <p:nvSpPr>
          <p:cNvPr id="4" name="Text 2"/>
          <p:cNvSpPr/>
          <p:nvPr/>
        </p:nvSpPr>
        <p:spPr>
          <a:xfrm>
            <a:off x="658368" y="786384"/>
            <a:ext cx="10881360" cy="713232"/>
          </a:xfrm>
          <a:prstGeom prst="rect">
            <a:avLst/>
          </a:prstGeom>
          <a:noFill/>
          <a:ln/>
        </p:spPr>
        <p:txBody>
          <a:bodyPr wrap="square" lIns="0" tIns="0" rIns="0" bIns="0" rtlCol="0" anchor="ctr"/>
          <a:lstStyle/>
          <a:p>
            <a:pPr marL="0" indent="0">
              <a:buNone/>
            </a:pPr>
            <a:r>
              <a:rPr lang="en-US" sz="3000" b="1" i="1" dirty="0">
                <a:solidFill>
                  <a:srgbClr val="0B132B"/>
                </a:solidFill>
                <a:latin typeface="Georgia" pitchFamily="34" charset="0"/>
                <a:ea typeface="Georgia" pitchFamily="34" charset="-122"/>
                <a:cs typeface="Georgia" pitchFamily="34" charset="-120"/>
              </a:rPr>
              <a:t>La mise en service</a:t>
            </a:r>
            <a:endParaRPr lang="en-US" sz="3000" dirty="0"/>
          </a:p>
        </p:txBody>
      </p:sp>
      <p:sp>
        <p:nvSpPr>
          <p:cNvPr id="5" name="Shape 3"/>
          <p:cNvSpPr/>
          <p:nvPr/>
        </p:nvSpPr>
        <p:spPr>
          <a:xfrm>
            <a:off x="685800" y="1783080"/>
            <a:ext cx="10881360" cy="777240"/>
          </a:xfrm>
          <a:prstGeom prst="roundRect">
            <a:avLst>
              <a:gd name="adj" fmla="val 11765"/>
            </a:avLst>
          </a:prstGeom>
          <a:solidFill>
            <a:srgbClr val="FFFFFF"/>
          </a:solidFill>
          <a:ln w="12700">
            <a:solidFill>
              <a:srgbClr val="E4E8F0"/>
            </a:solidFill>
            <a:prstDash val="solid"/>
          </a:ln>
          <a:effectLst>
            <a:outerShdw blurRad="203200" dist="63500" dir="5400000" algn="bl" rotWithShape="0">
              <a:srgbClr val="0B132B">
                <a:alpha val="10000"/>
              </a:srgbClr>
            </a:outerShdw>
          </a:effectLst>
        </p:spPr>
      </p:sp>
      <p:sp>
        <p:nvSpPr>
          <p:cNvPr id="6" name="Text 4"/>
          <p:cNvSpPr/>
          <p:nvPr/>
        </p:nvSpPr>
        <p:spPr>
          <a:xfrm>
            <a:off x="960120" y="1783080"/>
            <a:ext cx="10332720" cy="777240"/>
          </a:xfrm>
          <a:prstGeom prst="rect">
            <a:avLst/>
          </a:prstGeom>
          <a:noFill/>
          <a:ln/>
        </p:spPr>
        <p:txBody>
          <a:bodyPr wrap="square" lIns="0" tIns="0" rIns="0" bIns="0" rtlCol="0" anchor="ctr"/>
          <a:lstStyle/>
          <a:p>
            <a:pPr marL="0" indent="0">
              <a:buNone/>
            </a:pPr>
            <a:r>
              <a:rPr lang="en-US" sz="1550" b="1" i="1" dirty="0">
                <a:solidFill>
                  <a:srgbClr val="0B132B"/>
                </a:solidFill>
                <a:latin typeface="Georgia" pitchFamily="34" charset="0"/>
                <a:ea typeface="Georgia" pitchFamily="34" charset="-122"/>
                <a:cs typeface="Georgia" pitchFamily="34" charset="-120"/>
              </a:rPr>
              <a:t>Stage prolongé de deux semaines, à la demande du maire, pour mener la mise en service.</a:t>
            </a:r>
            <a:endParaRPr lang="en-US" sz="1550" dirty="0"/>
          </a:p>
        </p:txBody>
      </p:sp>
      <p:sp>
        <p:nvSpPr>
          <p:cNvPr id="7" name="Shape 5"/>
          <p:cNvSpPr/>
          <p:nvPr/>
        </p:nvSpPr>
        <p:spPr>
          <a:xfrm>
            <a:off x="822960" y="2926080"/>
            <a:ext cx="457200" cy="457200"/>
          </a:xfrm>
          <a:prstGeom prst="ellipse">
            <a:avLst/>
          </a:prstGeom>
          <a:solidFill>
            <a:srgbClr val="0B132B"/>
          </a:solidFill>
          <a:ln/>
          <a:effectLst>
            <a:outerShdw blurRad="203200" dist="63500" dir="5400000" algn="bl" rotWithShape="0">
              <a:srgbClr val="0B132B">
                <a:alpha val="10000"/>
              </a:srgbClr>
            </a:outerShdw>
          </a:effectLst>
        </p:spPr>
      </p:sp>
      <p:sp>
        <p:nvSpPr>
          <p:cNvPr id="8" name="Text 6"/>
          <p:cNvSpPr/>
          <p:nvPr/>
        </p:nvSpPr>
        <p:spPr>
          <a:xfrm>
            <a:off x="822960" y="292608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7"/>
          <p:cNvSpPr/>
          <p:nvPr/>
        </p:nvSpPr>
        <p:spPr>
          <a:xfrm>
            <a:off x="1463040" y="2880360"/>
            <a:ext cx="9875520" cy="548640"/>
          </a:xfrm>
          <a:prstGeom prst="rect">
            <a:avLst/>
          </a:prstGeom>
          <a:noFill/>
          <a:ln/>
        </p:spPr>
        <p:txBody>
          <a:bodyPr wrap="square" lIns="0" tIns="0" rIns="0" bIns="0" rtlCol="0" anchor="ctr"/>
          <a:lstStyle/>
          <a:p>
            <a:pPr marL="0" indent="0">
              <a:buNone/>
            </a:pPr>
            <a:r>
              <a:rPr lang="en-US" sz="1550" dirty="0">
                <a:solidFill>
                  <a:srgbClr val="0B132B"/>
                </a:solidFill>
                <a:latin typeface="Calibri" pitchFamily="34" charset="0"/>
                <a:ea typeface="Calibri" pitchFamily="34" charset="-122"/>
                <a:cs typeface="Calibri" pitchFamily="34" charset="-120"/>
              </a:rPr>
              <a:t>Sauvegarde complète de l'ancien site</a:t>
            </a:r>
            <a:endParaRPr lang="en-US" sz="1550" dirty="0"/>
          </a:p>
        </p:txBody>
      </p:sp>
      <p:sp>
        <p:nvSpPr>
          <p:cNvPr id="10" name="Shape 8"/>
          <p:cNvSpPr/>
          <p:nvPr/>
        </p:nvSpPr>
        <p:spPr>
          <a:xfrm>
            <a:off x="822960" y="3639312"/>
            <a:ext cx="457200" cy="457200"/>
          </a:xfrm>
          <a:prstGeom prst="ellipse">
            <a:avLst/>
          </a:prstGeom>
          <a:solidFill>
            <a:srgbClr val="0B132B"/>
          </a:solidFill>
          <a:ln/>
          <a:effectLst>
            <a:outerShdw blurRad="203200" dist="63500" dir="5400000" algn="bl" rotWithShape="0">
              <a:srgbClr val="0B132B">
                <a:alpha val="10000"/>
              </a:srgbClr>
            </a:outerShdw>
          </a:effectLst>
        </p:spPr>
      </p:sp>
      <p:sp>
        <p:nvSpPr>
          <p:cNvPr id="11" name="Text 9"/>
          <p:cNvSpPr/>
          <p:nvPr/>
        </p:nvSpPr>
        <p:spPr>
          <a:xfrm>
            <a:off x="822960" y="3639312"/>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1463040" y="3593592"/>
            <a:ext cx="9875520" cy="548640"/>
          </a:xfrm>
          <a:prstGeom prst="rect">
            <a:avLst/>
          </a:prstGeom>
          <a:noFill/>
          <a:ln/>
        </p:spPr>
        <p:txBody>
          <a:bodyPr wrap="square" lIns="0" tIns="0" rIns="0" bIns="0" rtlCol="0" anchor="ctr"/>
          <a:lstStyle/>
          <a:p>
            <a:pPr marL="0" indent="0">
              <a:buNone/>
            </a:pPr>
            <a:r>
              <a:rPr lang="en-US" sz="1550" dirty="0">
                <a:solidFill>
                  <a:srgbClr val="0B132B"/>
                </a:solidFill>
                <a:latin typeface="Calibri" pitchFamily="34" charset="0"/>
                <a:ea typeface="Calibri" pitchFamily="34" charset="-122"/>
                <a:cs typeface="Calibri" pitchFamily="34" charset="-120"/>
              </a:rPr>
              <a:t>Migration de vingt ans de contenu (4 000 articles, 8 500 photos)</a:t>
            </a:r>
            <a:endParaRPr lang="en-US" sz="1550" dirty="0"/>
          </a:p>
        </p:txBody>
      </p:sp>
      <p:sp>
        <p:nvSpPr>
          <p:cNvPr id="13" name="Shape 11"/>
          <p:cNvSpPr/>
          <p:nvPr/>
        </p:nvSpPr>
        <p:spPr>
          <a:xfrm>
            <a:off x="822960" y="4352544"/>
            <a:ext cx="457200" cy="457200"/>
          </a:xfrm>
          <a:prstGeom prst="ellipse">
            <a:avLst/>
          </a:prstGeom>
          <a:solidFill>
            <a:srgbClr val="0B132B"/>
          </a:solidFill>
          <a:ln/>
          <a:effectLst>
            <a:outerShdw blurRad="203200" dist="63500" dir="5400000" algn="bl" rotWithShape="0">
              <a:srgbClr val="0B132B">
                <a:alpha val="10000"/>
              </a:srgbClr>
            </a:outerShdw>
          </a:effectLst>
        </p:spPr>
      </p:sp>
      <p:sp>
        <p:nvSpPr>
          <p:cNvPr id="14" name="Text 12"/>
          <p:cNvSpPr/>
          <p:nvPr/>
        </p:nvSpPr>
        <p:spPr>
          <a:xfrm>
            <a:off x="822960" y="4352544"/>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5" name="Text 13"/>
          <p:cNvSpPr/>
          <p:nvPr/>
        </p:nvSpPr>
        <p:spPr>
          <a:xfrm>
            <a:off x="1463040" y="4306824"/>
            <a:ext cx="9875520" cy="548640"/>
          </a:xfrm>
          <a:prstGeom prst="rect">
            <a:avLst/>
          </a:prstGeom>
          <a:noFill/>
          <a:ln/>
        </p:spPr>
        <p:txBody>
          <a:bodyPr wrap="square" lIns="0" tIns="0" rIns="0" bIns="0" rtlCol="0" anchor="ctr"/>
          <a:lstStyle/>
          <a:p>
            <a:pPr marL="0" indent="0">
              <a:buNone/>
            </a:pPr>
            <a:r>
              <a:rPr lang="en-US" sz="1550" dirty="0">
                <a:solidFill>
                  <a:srgbClr val="0B132B"/>
                </a:solidFill>
                <a:latin typeface="Calibri" pitchFamily="34" charset="0"/>
                <a:ea typeface="Calibri" pitchFamily="34" charset="-122"/>
                <a:cs typeface="Calibri" pitchFamily="34" charset="-120"/>
              </a:rPr>
              <a:t>Bascule du nom de domaine vers le nouveau site</a:t>
            </a:r>
            <a:endParaRPr lang="en-US" sz="1550" dirty="0"/>
          </a:p>
        </p:txBody>
      </p:sp>
      <p:sp>
        <p:nvSpPr>
          <p:cNvPr id="16" name="Shape 14"/>
          <p:cNvSpPr/>
          <p:nvPr/>
        </p:nvSpPr>
        <p:spPr>
          <a:xfrm>
            <a:off x="822960" y="5065776"/>
            <a:ext cx="457200" cy="457200"/>
          </a:xfrm>
          <a:prstGeom prst="ellipse">
            <a:avLst/>
          </a:prstGeom>
          <a:solidFill>
            <a:srgbClr val="0B132B"/>
          </a:solidFill>
          <a:ln/>
          <a:effectLst>
            <a:outerShdw blurRad="203200" dist="63500" dir="5400000" algn="bl" rotWithShape="0">
              <a:srgbClr val="0B132B">
                <a:alpha val="10000"/>
              </a:srgbClr>
            </a:outerShdw>
          </a:effectLst>
        </p:spPr>
      </p:sp>
      <p:sp>
        <p:nvSpPr>
          <p:cNvPr id="17" name="Text 15"/>
          <p:cNvSpPr/>
          <p:nvPr/>
        </p:nvSpPr>
        <p:spPr>
          <a:xfrm>
            <a:off x="822960" y="5065776"/>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8" name="Text 16"/>
          <p:cNvSpPr/>
          <p:nvPr/>
        </p:nvSpPr>
        <p:spPr>
          <a:xfrm>
            <a:off x="1463040" y="5020056"/>
            <a:ext cx="9875520" cy="548640"/>
          </a:xfrm>
          <a:prstGeom prst="rect">
            <a:avLst/>
          </a:prstGeom>
          <a:noFill/>
          <a:ln/>
        </p:spPr>
        <p:txBody>
          <a:bodyPr wrap="square" lIns="0" tIns="0" rIns="0" bIns="0" rtlCol="0" anchor="ctr"/>
          <a:lstStyle/>
          <a:p>
            <a:pPr marL="0" indent="0">
              <a:buNone/>
            </a:pPr>
            <a:r>
              <a:rPr lang="en-US" sz="1550" dirty="0">
                <a:solidFill>
                  <a:srgbClr val="0B132B"/>
                </a:solidFill>
                <a:latin typeface="Calibri" pitchFamily="34" charset="0"/>
                <a:ea typeface="Calibri" pitchFamily="34" charset="-122"/>
                <a:cs typeface="Calibri" pitchFamily="34" charset="-120"/>
              </a:rPr>
              <a:t>Formation du personnel avec le tutoriel</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68680" y="1051560"/>
            <a:ext cx="1234440" cy="329184"/>
          </a:xfrm>
          <a:prstGeom prst="roundRect">
            <a:avLst>
              <a:gd name="adj" fmla="val 50000"/>
            </a:avLst>
          </a:prstGeom>
          <a:solidFill>
            <a:srgbClr val="0B132B"/>
          </a:solidFill>
          <a:ln/>
          <a:effectLst>
            <a:outerShdw blurRad="203200" dist="63500" dir="5400000" algn="bl" rotWithShape="0">
              <a:srgbClr val="0B132B">
                <a:alpha val="10000"/>
              </a:srgbClr>
            </a:outerShdw>
          </a:effectLst>
        </p:spPr>
      </p:sp>
      <p:sp>
        <p:nvSpPr>
          <p:cNvPr id="3" name="Text 1"/>
          <p:cNvSpPr/>
          <p:nvPr/>
        </p:nvSpPr>
        <p:spPr>
          <a:xfrm>
            <a:off x="868680" y="1051560"/>
            <a:ext cx="1234440" cy="329184"/>
          </a:xfrm>
          <a:prstGeom prst="rect">
            <a:avLst/>
          </a:prstGeom>
          <a:noFill/>
          <a:ln/>
        </p:spPr>
        <p:txBody>
          <a:bodyPr wrap="square" lIns="0" tIns="0" rIns="0" bIns="0" rtlCol="0" anchor="ctr"/>
          <a:lstStyle/>
          <a:p>
            <a:pPr marL="0" indent="0" algn="ctr">
              <a:buNone/>
            </a:pPr>
            <a:r>
              <a:rPr lang="en-US" sz="1050" b="1" kern="0" spc="200" dirty="0">
                <a:solidFill>
                  <a:srgbClr val="FFFFFF"/>
                </a:solidFill>
                <a:latin typeface="Calibri" pitchFamily="34" charset="0"/>
                <a:ea typeface="Calibri" pitchFamily="34" charset="-122"/>
                <a:cs typeface="Calibri" pitchFamily="34" charset="-120"/>
              </a:rPr>
              <a:t>CONCLUSION</a:t>
            </a:r>
            <a:endParaRPr lang="en-US" sz="1050" dirty="0"/>
          </a:p>
        </p:txBody>
      </p:sp>
      <p:sp>
        <p:nvSpPr>
          <p:cNvPr id="4" name="Text 2"/>
          <p:cNvSpPr/>
          <p:nvPr/>
        </p:nvSpPr>
        <p:spPr>
          <a:xfrm>
            <a:off x="841248" y="1463040"/>
            <a:ext cx="10058400" cy="685800"/>
          </a:xfrm>
          <a:prstGeom prst="rect">
            <a:avLst/>
          </a:prstGeom>
          <a:noFill/>
          <a:ln/>
        </p:spPr>
        <p:txBody>
          <a:bodyPr wrap="square" lIns="0" tIns="0" rIns="0" bIns="0" rtlCol="0" anchor="ctr"/>
          <a:lstStyle/>
          <a:p>
            <a:pPr marL="0" indent="0">
              <a:buNone/>
            </a:pPr>
            <a:r>
              <a:rPr lang="en-US" sz="3000" b="1" i="1" dirty="0">
                <a:solidFill>
                  <a:srgbClr val="0B132B"/>
                </a:solidFill>
                <a:latin typeface="Georgia" pitchFamily="34" charset="0"/>
                <a:ea typeface="Georgia" pitchFamily="34" charset="-122"/>
                <a:cs typeface="Georgia" pitchFamily="34" charset="-120"/>
              </a:rPr>
              <a:t>Ce que je retiens</a:t>
            </a:r>
            <a:endParaRPr lang="en-US" sz="3000" dirty="0"/>
          </a:p>
        </p:txBody>
      </p:sp>
      <p:sp>
        <p:nvSpPr>
          <p:cNvPr id="5" name="Text 3"/>
          <p:cNvSpPr/>
          <p:nvPr/>
        </p:nvSpPr>
        <p:spPr>
          <a:xfrm>
            <a:off x="914400" y="2377440"/>
            <a:ext cx="10058400" cy="1554480"/>
          </a:xfrm>
          <a:prstGeom prst="rect">
            <a:avLst/>
          </a:prstGeom>
          <a:noFill/>
          <a:ln/>
        </p:spPr>
        <p:txBody>
          <a:bodyPr wrap="square" lIns="0" tIns="0" rIns="0" bIns="0" rtlCol="0" anchor="ctr"/>
          <a:lstStyle/>
          <a:p>
            <a:pPr marL="228600" indent="-228600">
              <a:buSzPct val="100000"/>
              <a:buChar char="•"/>
            </a:pPr>
            <a:r>
              <a:rPr lang="en-US" sz="1600" dirty="0">
                <a:solidFill>
                  <a:srgbClr val="475569"/>
                </a:solidFill>
                <a:latin typeface="Calibri" pitchFamily="34" charset="0"/>
                <a:ea typeface="Calibri" pitchFamily="34" charset="-122"/>
                <a:cs typeface="Calibri" pitchFamily="34" charset="-120"/>
              </a:rPr>
              <a:t>Écouter, expliquer, traduire l'informatique pour ceux qui ne la parlent pas.</a:t>
            </a:r>
            <a:endParaRPr lang="en-US" sz="1600" dirty="0"/>
          </a:p>
          <a:p>
            <a:pPr marL="228600" indent="-228600">
              <a:spcBef>
                <a:spcPts val="800"/>
              </a:spcBef>
              <a:buSzPct val="100000"/>
              <a:buChar char="•"/>
            </a:pPr>
            <a:r>
              <a:rPr lang="en-US" sz="1600" dirty="0">
                <a:solidFill>
                  <a:srgbClr val="475569"/>
                </a:solidFill>
                <a:latin typeface="Calibri" pitchFamily="34" charset="0"/>
                <a:ea typeface="Calibri" pitchFamily="34" charset="-122"/>
                <a:cs typeface="Calibri" pitchFamily="34" charset="-120"/>
              </a:rPr>
              <a:t>Alerter ne suffit pas : savoir demander une décision au bon moment.</a:t>
            </a:r>
            <a:endParaRPr lang="en-US" sz="1600" dirty="0"/>
          </a:p>
          <a:p>
            <a:pPr marL="228600" indent="-228600">
              <a:spcBef>
                <a:spcPts val="800"/>
              </a:spcBef>
              <a:buSzPct val="100000"/>
              <a:buChar char="•"/>
            </a:pPr>
            <a:r>
              <a:rPr lang="en-US" sz="1600" dirty="0">
                <a:solidFill>
                  <a:srgbClr val="475569"/>
                </a:solidFill>
                <a:latin typeface="Calibri" pitchFamily="34" charset="0"/>
                <a:ea typeface="Calibri" pitchFamily="34" charset="-122"/>
                <a:cs typeface="Calibri" pitchFamily="34" charset="-120"/>
              </a:rPr>
              <a:t>Un projet réel, mené du besoin jusqu'à la mise en service.</a:t>
            </a:r>
            <a:endParaRPr lang="en-US" sz="1600" dirty="0"/>
          </a:p>
        </p:txBody>
      </p:sp>
      <p:sp>
        <p:nvSpPr>
          <p:cNvPr id="6" name="Text 4"/>
          <p:cNvSpPr/>
          <p:nvPr/>
        </p:nvSpPr>
        <p:spPr>
          <a:xfrm>
            <a:off x="841248" y="4434840"/>
            <a:ext cx="10424160" cy="777240"/>
          </a:xfrm>
          <a:prstGeom prst="rect">
            <a:avLst/>
          </a:prstGeom>
          <a:noFill/>
          <a:ln/>
        </p:spPr>
        <p:txBody>
          <a:bodyPr wrap="square" lIns="0" tIns="0" rIns="0" bIns="0" rtlCol="0" anchor="ctr"/>
          <a:lstStyle/>
          <a:p>
            <a:pPr marL="0" indent="0">
              <a:buNone/>
            </a:pPr>
            <a:r>
              <a:rPr lang="en-US" sz="3600" b="1" i="1" dirty="0">
                <a:solidFill>
                  <a:srgbClr val="0B132B"/>
                </a:solidFill>
                <a:latin typeface="Georgia" pitchFamily="34" charset="0"/>
                <a:ea typeface="Georgia" pitchFamily="34" charset="-122"/>
                <a:cs typeface="Georgia" pitchFamily="34" charset="-120"/>
              </a:rPr>
              <a:t>Merci de votre attention.</a:t>
            </a:r>
            <a:endParaRPr lang="en-US" sz="3600" dirty="0"/>
          </a:p>
        </p:txBody>
      </p:sp>
      <p:sp>
        <p:nvSpPr>
          <p:cNvPr id="7" name="Text 5"/>
          <p:cNvSpPr/>
          <p:nvPr/>
        </p:nvSpPr>
        <p:spPr>
          <a:xfrm>
            <a:off x="868680" y="5303520"/>
            <a:ext cx="10058400" cy="457200"/>
          </a:xfrm>
          <a:prstGeom prst="rect">
            <a:avLst/>
          </a:prstGeom>
          <a:noFill/>
          <a:ln/>
        </p:spPr>
        <p:txBody>
          <a:bodyPr wrap="square" lIns="0" tIns="0" rIns="0" bIns="0" rtlCol="0" anchor="ctr"/>
          <a:lstStyle/>
          <a:p>
            <a:pPr marL="0" indent="0">
              <a:buNone/>
            </a:pPr>
            <a:r>
              <a:rPr lang="en-US" sz="1700" dirty="0">
                <a:solidFill>
                  <a:srgbClr val="475569"/>
                </a:solidFill>
                <a:latin typeface="Calibri" pitchFamily="34" charset="0"/>
                <a:ea typeface="Calibri" pitchFamily="34" charset="-122"/>
                <a:cs typeface="Calibri" pitchFamily="34" charset="-120"/>
              </a:rPr>
              <a:t>Des questions ?</a:t>
            </a:r>
            <a:endParaRPr lang="en-US" sz="1700" dirty="0"/>
          </a:p>
        </p:txBody>
      </p:sp>
      <p:sp>
        <p:nvSpPr>
          <p:cNvPr id="8" name="Text 6"/>
          <p:cNvSpPr/>
          <p:nvPr/>
        </p:nvSpPr>
        <p:spPr>
          <a:xfrm>
            <a:off x="868680" y="6263640"/>
            <a:ext cx="10058400" cy="365760"/>
          </a:xfrm>
          <a:prstGeom prst="rect">
            <a:avLst/>
          </a:prstGeom>
          <a:noFill/>
          <a:ln/>
        </p:spPr>
        <p:txBody>
          <a:bodyPr wrap="square" lIns="0" tIns="0" rIns="0" bIns="0" rtlCol="0" anchor="ctr"/>
          <a:lstStyle/>
          <a:p>
            <a:pPr marL="0" indent="0">
              <a:buNone/>
            </a:pPr>
            <a:r>
              <a:rPr lang="en-US" sz="1200" dirty="0">
                <a:solidFill>
                  <a:srgbClr val="9098A8"/>
                </a:solidFill>
                <a:latin typeface="Calibri" pitchFamily="34" charset="0"/>
                <a:ea typeface="Calibri" pitchFamily="34" charset="-122"/>
                <a:cs typeface="Calibri" pitchFamily="34" charset="-120"/>
              </a:rPr>
              <a:t>Maël DAVIDENKO   ·   Mairie de Douvres   ·   juillet 2026</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1136</Words>
  <Application>Microsoft Office PowerPoint</Application>
  <PresentationFormat>Grand écran</PresentationFormat>
  <Paragraphs>100</Paragraphs>
  <Slides>8</Slides>
  <Notes>8</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8</vt:i4>
      </vt:variant>
    </vt:vector>
  </HeadingPairs>
  <TitlesOfParts>
    <vt:vector size="12" baseType="lpstr">
      <vt:lpstr>Arial</vt:lpstr>
      <vt:lpstr>Calibri</vt:lpstr>
      <vt:lpstr>Georgia</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Soutenance de stage - Mairie de Douvres</dc:title>
  <dc:subject>PptxGenJS Presentation</dc:subject>
  <dc:creator>Maël Davidenko</dc:creator>
  <cp:lastModifiedBy>Mael Davidenko</cp:lastModifiedBy>
  <cp:revision>9</cp:revision>
  <dcterms:created xsi:type="dcterms:W3CDTF">2026-07-02T23:26:09Z</dcterms:created>
  <dcterms:modified xsi:type="dcterms:W3CDTF">2026-07-03T12:21:23Z</dcterms:modified>
</cp:coreProperties>
</file>